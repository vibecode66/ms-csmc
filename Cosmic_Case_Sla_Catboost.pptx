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97" r:id="rId2"/>
    <p:sldId id="431" r:id="rId3"/>
    <p:sldId id="429" r:id="rId4"/>
    <p:sldId id="430" r:id="rId5"/>
    <p:sldId id="424" r:id="rId6"/>
    <p:sldId id="421" r:id="rId7"/>
    <p:sldId id="428" r:id="rId8"/>
    <p:sldId id="427" r:id="rId9"/>
    <p:sldId id="409" r:id="rId10"/>
    <p:sldId id="417" r:id="rId11"/>
    <p:sldId id="420" r:id="rId12"/>
    <p:sldId id="412" r:id="rId13"/>
    <p:sldId id="419" r:id="rId14"/>
    <p:sldId id="394" r:id="rId15"/>
    <p:sldId id="395" r:id="rId16"/>
    <p:sldId id="407" r:id="rId17"/>
    <p:sldId id="40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2A9F87-B31B-47A2-9464-1A7B46FCDA74}" v="2" dt="2026-06-29T23:10:41.7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19" autoAdjust="0"/>
    <p:restoredTop sz="95243" autoAdjust="0"/>
  </p:normalViewPr>
  <p:slideViewPr>
    <p:cSldViewPr snapToGrid="0">
      <p:cViewPr varScale="1">
        <p:scale>
          <a:sx n="116" d="100"/>
          <a:sy n="116" d="100"/>
        </p:scale>
        <p:origin x="1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a Suresh Adusumilli (BLINK INTERACTIVE INC)" userId="6d52fdf7-f462-4887-b742-1971f867ec43" providerId="ADAL" clId="{F53E98C4-A6ED-412F-BFFE-E09D3C457B93}"/>
    <pc:docChg chg="custSel addSld modSld">
      <pc:chgData name="Naga Suresh Adusumilli (BLINK INTERACTIVE INC)" userId="6d52fdf7-f462-4887-b742-1971f867ec43" providerId="ADAL" clId="{F53E98C4-A6ED-412F-BFFE-E09D3C457B93}" dt="2026-06-29T23:10:41.738" v="80"/>
      <pc:docMkLst>
        <pc:docMk/>
      </pc:docMkLst>
      <pc:sldChg chg="addSp delSp modSp new mod">
        <pc:chgData name="Naga Suresh Adusumilli (BLINK INTERACTIVE INC)" userId="6d52fdf7-f462-4887-b742-1971f867ec43" providerId="ADAL" clId="{F53E98C4-A6ED-412F-BFFE-E09D3C457B93}" dt="2026-06-29T21:55:18.815" v="77" actId="1076"/>
        <pc:sldMkLst>
          <pc:docMk/>
          <pc:sldMk cId="715484955" sldId="429"/>
        </pc:sldMkLst>
        <pc:spChg chg="add del mod">
          <ac:chgData name="Naga Suresh Adusumilli (BLINK INTERACTIVE INC)" userId="6d52fdf7-f462-4887-b742-1971f867ec43" providerId="ADAL" clId="{F53E98C4-A6ED-412F-BFFE-E09D3C457B93}" dt="2026-06-29T21:51:51.942" v="6" actId="478"/>
          <ac:spMkLst>
            <pc:docMk/>
            <pc:sldMk cId="715484955" sldId="429"/>
            <ac:spMk id="3" creationId="{5D22F2AB-D8BE-0031-A156-961BFCA970C5}"/>
          </ac:spMkLst>
        </pc:spChg>
        <pc:spChg chg="add mod">
          <ac:chgData name="Naga Suresh Adusumilli (BLINK INTERACTIVE INC)" userId="6d52fdf7-f462-4887-b742-1971f867ec43" providerId="ADAL" clId="{F53E98C4-A6ED-412F-BFFE-E09D3C457B93}" dt="2026-06-29T21:53:12.495" v="32" actId="255"/>
          <ac:spMkLst>
            <pc:docMk/>
            <pc:sldMk cId="715484955" sldId="429"/>
            <ac:spMk id="5" creationId="{5C149DC2-EC4C-5D3C-33C2-8994FCE49409}"/>
          </ac:spMkLst>
        </pc:spChg>
        <pc:spChg chg="add mod">
          <ac:chgData name="Naga Suresh Adusumilli (BLINK INTERACTIVE INC)" userId="6d52fdf7-f462-4887-b742-1971f867ec43" providerId="ADAL" clId="{F53E98C4-A6ED-412F-BFFE-E09D3C457B93}" dt="2026-06-29T21:55:18.815" v="77" actId="1076"/>
          <ac:spMkLst>
            <pc:docMk/>
            <pc:sldMk cId="715484955" sldId="429"/>
            <ac:spMk id="7" creationId="{CFD15F9C-254A-808E-37EF-C8A1DDB0B972}"/>
          </ac:spMkLst>
        </pc:spChg>
      </pc:sldChg>
      <pc:sldChg chg="addSp delSp modSp add mod">
        <pc:chgData name="Naga Suresh Adusumilli (BLINK INTERACTIVE INC)" userId="6d52fdf7-f462-4887-b742-1971f867ec43" providerId="ADAL" clId="{F53E98C4-A6ED-412F-BFFE-E09D3C457B93}" dt="2026-06-29T21:55:24.823" v="79" actId="1076"/>
        <pc:sldMkLst>
          <pc:docMk/>
          <pc:sldMk cId="2526885045" sldId="430"/>
        </pc:sldMkLst>
        <pc:spChg chg="add mod">
          <ac:chgData name="Naga Suresh Adusumilli (BLINK INTERACTIVE INC)" userId="6d52fdf7-f462-4887-b742-1971f867ec43" providerId="ADAL" clId="{F53E98C4-A6ED-412F-BFFE-E09D3C457B93}" dt="2026-06-29T21:55:24.823" v="79" actId="1076"/>
          <ac:spMkLst>
            <pc:docMk/>
            <pc:sldMk cId="2526885045" sldId="430"/>
            <ac:spMk id="3" creationId="{97BDE94E-B47A-6232-7B52-F0AEA569B93B}"/>
          </ac:spMkLst>
        </pc:spChg>
        <pc:spChg chg="del">
          <ac:chgData name="Naga Suresh Adusumilli (BLINK INTERACTIVE INC)" userId="6d52fdf7-f462-4887-b742-1971f867ec43" providerId="ADAL" clId="{F53E98C4-A6ED-412F-BFFE-E09D3C457B93}" dt="2026-06-29T21:53:22.561" v="34" actId="478"/>
          <ac:spMkLst>
            <pc:docMk/>
            <pc:sldMk cId="2526885045" sldId="430"/>
            <ac:spMk id="5" creationId="{25402B00-6DBC-8BE9-9180-153C1B715A0E}"/>
          </ac:spMkLst>
        </pc:spChg>
        <pc:spChg chg="add mod">
          <ac:chgData name="Naga Suresh Adusumilli (BLINK INTERACTIVE INC)" userId="6d52fdf7-f462-4887-b742-1971f867ec43" providerId="ADAL" clId="{F53E98C4-A6ED-412F-BFFE-E09D3C457B93}" dt="2026-06-29T21:55:21.903" v="78" actId="1076"/>
          <ac:spMkLst>
            <pc:docMk/>
            <pc:sldMk cId="2526885045" sldId="430"/>
            <ac:spMk id="6" creationId="{2A8B60C2-6DF3-4FF3-35C2-9F24550B4005}"/>
          </ac:spMkLst>
        </pc:spChg>
      </pc:sldChg>
      <pc:sldChg chg="add">
        <pc:chgData name="Naga Suresh Adusumilli (BLINK INTERACTIVE INC)" userId="6d52fdf7-f462-4887-b742-1971f867ec43" providerId="ADAL" clId="{F53E98C4-A6ED-412F-BFFE-E09D3C457B93}" dt="2026-06-29T23:10:41.738" v="80"/>
        <pc:sldMkLst>
          <pc:docMk/>
          <pc:sldMk cId="1474714662" sldId="43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AC5D7-B52E-F585-2997-2AB921627E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7C5C07-4BC6-2695-D6F7-7BFF832039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39ED29-DBEA-E924-D978-E8D02E6C7765}"/>
              </a:ext>
            </a:extLst>
          </p:cNvPr>
          <p:cNvSpPr>
            <a:spLocks noGrp="1"/>
          </p:cNvSpPr>
          <p:nvPr>
            <p:ph type="dt" sz="half" idx="10"/>
          </p:nvPr>
        </p:nvSpPr>
        <p:spPr/>
        <p:txBody>
          <a:bodyPr/>
          <a:lstStyle/>
          <a:p>
            <a:fld id="{2E77CE7E-A04D-4282-AC01-8899270F895B}" type="datetimeFigureOut">
              <a:rPr lang="en-US" smtClean="0"/>
              <a:t>6/29/2026</a:t>
            </a:fld>
            <a:endParaRPr lang="en-US"/>
          </a:p>
        </p:txBody>
      </p:sp>
      <p:sp>
        <p:nvSpPr>
          <p:cNvPr id="5" name="Footer Placeholder 4">
            <a:extLst>
              <a:ext uri="{FF2B5EF4-FFF2-40B4-BE49-F238E27FC236}">
                <a16:creationId xmlns:a16="http://schemas.microsoft.com/office/drawing/2014/main" id="{5E362328-85AC-C8BD-6D7D-7EAB221386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8C6102-F18A-0AFC-242B-10A08B2A7063}"/>
              </a:ext>
            </a:extLst>
          </p:cNvPr>
          <p:cNvSpPr>
            <a:spLocks noGrp="1"/>
          </p:cNvSpPr>
          <p:nvPr>
            <p:ph type="sldNum" sz="quarter" idx="12"/>
          </p:nvPr>
        </p:nvSpPr>
        <p:spPr/>
        <p:txBody>
          <a:bodyPr/>
          <a:lstStyle/>
          <a:p>
            <a:fld id="{EE9F0C3C-3424-469F-A3DD-35B188274E11}" type="slidenum">
              <a:rPr lang="en-US" smtClean="0"/>
              <a:t>‹#›</a:t>
            </a:fld>
            <a:endParaRPr lang="en-US"/>
          </a:p>
        </p:txBody>
      </p:sp>
    </p:spTree>
    <p:extLst>
      <p:ext uri="{BB962C8B-B14F-4D97-AF65-F5344CB8AC3E}">
        <p14:creationId xmlns:p14="http://schemas.microsoft.com/office/powerpoint/2010/main" val="69649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F6E39-07E9-FED4-35BE-F72AE048C0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06AA2A-D690-2330-B825-577BA4DA66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BDC5C8-7742-5C0E-273F-5D3F83BD3BDF}"/>
              </a:ext>
            </a:extLst>
          </p:cNvPr>
          <p:cNvSpPr>
            <a:spLocks noGrp="1"/>
          </p:cNvSpPr>
          <p:nvPr>
            <p:ph type="dt" sz="half" idx="10"/>
          </p:nvPr>
        </p:nvSpPr>
        <p:spPr/>
        <p:txBody>
          <a:bodyPr/>
          <a:lstStyle/>
          <a:p>
            <a:fld id="{2E77CE7E-A04D-4282-AC01-8899270F895B}" type="datetimeFigureOut">
              <a:rPr lang="en-US" smtClean="0"/>
              <a:t>6/29/2026</a:t>
            </a:fld>
            <a:endParaRPr lang="en-US"/>
          </a:p>
        </p:txBody>
      </p:sp>
      <p:sp>
        <p:nvSpPr>
          <p:cNvPr id="5" name="Footer Placeholder 4">
            <a:extLst>
              <a:ext uri="{FF2B5EF4-FFF2-40B4-BE49-F238E27FC236}">
                <a16:creationId xmlns:a16="http://schemas.microsoft.com/office/drawing/2014/main" id="{9BE05B04-47E3-F707-7E3A-FD1180B35C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8D21E3-7C36-3D32-5076-1F8F254BA566}"/>
              </a:ext>
            </a:extLst>
          </p:cNvPr>
          <p:cNvSpPr>
            <a:spLocks noGrp="1"/>
          </p:cNvSpPr>
          <p:nvPr>
            <p:ph type="sldNum" sz="quarter" idx="12"/>
          </p:nvPr>
        </p:nvSpPr>
        <p:spPr/>
        <p:txBody>
          <a:bodyPr/>
          <a:lstStyle/>
          <a:p>
            <a:fld id="{EE9F0C3C-3424-469F-A3DD-35B188274E11}" type="slidenum">
              <a:rPr lang="en-US" smtClean="0"/>
              <a:t>‹#›</a:t>
            </a:fld>
            <a:endParaRPr lang="en-US"/>
          </a:p>
        </p:txBody>
      </p:sp>
    </p:spTree>
    <p:extLst>
      <p:ext uri="{BB962C8B-B14F-4D97-AF65-F5344CB8AC3E}">
        <p14:creationId xmlns:p14="http://schemas.microsoft.com/office/powerpoint/2010/main" val="2213056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AB50B-5470-A071-EB72-379E706642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7B70BE1-6DB5-9E3E-560E-5C1D1827E5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59CF8D-E035-01FB-AD36-BB46199894F2}"/>
              </a:ext>
            </a:extLst>
          </p:cNvPr>
          <p:cNvSpPr>
            <a:spLocks noGrp="1"/>
          </p:cNvSpPr>
          <p:nvPr>
            <p:ph type="dt" sz="half" idx="10"/>
          </p:nvPr>
        </p:nvSpPr>
        <p:spPr/>
        <p:txBody>
          <a:bodyPr/>
          <a:lstStyle/>
          <a:p>
            <a:fld id="{2E77CE7E-A04D-4282-AC01-8899270F895B}" type="datetimeFigureOut">
              <a:rPr lang="en-US" smtClean="0"/>
              <a:t>6/29/2026</a:t>
            </a:fld>
            <a:endParaRPr lang="en-US"/>
          </a:p>
        </p:txBody>
      </p:sp>
      <p:sp>
        <p:nvSpPr>
          <p:cNvPr id="5" name="Footer Placeholder 4">
            <a:extLst>
              <a:ext uri="{FF2B5EF4-FFF2-40B4-BE49-F238E27FC236}">
                <a16:creationId xmlns:a16="http://schemas.microsoft.com/office/drawing/2014/main" id="{D06496B0-AC08-F098-BF4E-6E9FBABD07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48941A-A9FC-73C9-571A-378F8806D0BB}"/>
              </a:ext>
            </a:extLst>
          </p:cNvPr>
          <p:cNvSpPr>
            <a:spLocks noGrp="1"/>
          </p:cNvSpPr>
          <p:nvPr>
            <p:ph type="sldNum" sz="quarter" idx="12"/>
          </p:nvPr>
        </p:nvSpPr>
        <p:spPr/>
        <p:txBody>
          <a:bodyPr/>
          <a:lstStyle/>
          <a:p>
            <a:fld id="{EE9F0C3C-3424-469F-A3DD-35B188274E11}" type="slidenum">
              <a:rPr lang="en-US" smtClean="0"/>
              <a:t>‹#›</a:t>
            </a:fld>
            <a:endParaRPr lang="en-US"/>
          </a:p>
        </p:txBody>
      </p:sp>
    </p:spTree>
    <p:extLst>
      <p:ext uri="{BB962C8B-B14F-4D97-AF65-F5344CB8AC3E}">
        <p14:creationId xmlns:p14="http://schemas.microsoft.com/office/powerpoint/2010/main" val="2381992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87132-9CE5-A0A3-50D7-A1A2CD6330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6A0699-B0F4-F73B-F6E3-82377CDEFD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2CA677-77AF-5E79-AE93-613B77F01A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FEB230-5856-C7AE-AF3A-F5C75BA9A869}"/>
              </a:ext>
            </a:extLst>
          </p:cNvPr>
          <p:cNvSpPr>
            <a:spLocks noGrp="1"/>
          </p:cNvSpPr>
          <p:nvPr>
            <p:ph type="dt" sz="half" idx="10"/>
          </p:nvPr>
        </p:nvSpPr>
        <p:spPr/>
        <p:txBody>
          <a:bodyPr/>
          <a:lstStyle/>
          <a:p>
            <a:fld id="{2E77CE7E-A04D-4282-AC01-8899270F895B}" type="datetimeFigureOut">
              <a:rPr lang="en-US" smtClean="0"/>
              <a:t>6/29/2026</a:t>
            </a:fld>
            <a:endParaRPr lang="en-US"/>
          </a:p>
        </p:txBody>
      </p:sp>
      <p:sp>
        <p:nvSpPr>
          <p:cNvPr id="6" name="Footer Placeholder 5">
            <a:extLst>
              <a:ext uri="{FF2B5EF4-FFF2-40B4-BE49-F238E27FC236}">
                <a16:creationId xmlns:a16="http://schemas.microsoft.com/office/drawing/2014/main" id="{C496656A-2590-4214-FA3B-FF3B6C6B9E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7882CD-F218-57EF-7DEC-5C38DDE918D6}"/>
              </a:ext>
            </a:extLst>
          </p:cNvPr>
          <p:cNvSpPr>
            <a:spLocks noGrp="1"/>
          </p:cNvSpPr>
          <p:nvPr>
            <p:ph type="sldNum" sz="quarter" idx="12"/>
          </p:nvPr>
        </p:nvSpPr>
        <p:spPr/>
        <p:txBody>
          <a:bodyPr/>
          <a:lstStyle/>
          <a:p>
            <a:fld id="{EE9F0C3C-3424-469F-A3DD-35B188274E11}" type="slidenum">
              <a:rPr lang="en-US" smtClean="0"/>
              <a:t>‹#›</a:t>
            </a:fld>
            <a:endParaRPr lang="en-US"/>
          </a:p>
        </p:txBody>
      </p:sp>
    </p:spTree>
    <p:extLst>
      <p:ext uri="{BB962C8B-B14F-4D97-AF65-F5344CB8AC3E}">
        <p14:creationId xmlns:p14="http://schemas.microsoft.com/office/powerpoint/2010/main" val="1062336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B533-8121-6E8D-9BFE-ED5A7C11A22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83CA50-2157-25C4-674C-9BFCB1B031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287F9E-23F3-FC31-1115-CAA8E02445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8DE710-5E02-A266-D1A7-125141B499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4F3989-0B9B-C2E6-A8CC-5252458F07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0CE80E-EDA2-2602-20C1-7359E083B81A}"/>
              </a:ext>
            </a:extLst>
          </p:cNvPr>
          <p:cNvSpPr>
            <a:spLocks noGrp="1"/>
          </p:cNvSpPr>
          <p:nvPr>
            <p:ph type="dt" sz="half" idx="10"/>
          </p:nvPr>
        </p:nvSpPr>
        <p:spPr/>
        <p:txBody>
          <a:bodyPr/>
          <a:lstStyle/>
          <a:p>
            <a:fld id="{2E77CE7E-A04D-4282-AC01-8899270F895B}" type="datetimeFigureOut">
              <a:rPr lang="en-US" smtClean="0"/>
              <a:t>6/29/2026</a:t>
            </a:fld>
            <a:endParaRPr lang="en-US"/>
          </a:p>
        </p:txBody>
      </p:sp>
      <p:sp>
        <p:nvSpPr>
          <p:cNvPr id="8" name="Footer Placeholder 7">
            <a:extLst>
              <a:ext uri="{FF2B5EF4-FFF2-40B4-BE49-F238E27FC236}">
                <a16:creationId xmlns:a16="http://schemas.microsoft.com/office/drawing/2014/main" id="{5AD2C978-F674-8EC0-F981-0BE8358FD40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3806A7D-7783-42DA-AFCF-435767477784}"/>
              </a:ext>
            </a:extLst>
          </p:cNvPr>
          <p:cNvSpPr>
            <a:spLocks noGrp="1"/>
          </p:cNvSpPr>
          <p:nvPr>
            <p:ph type="sldNum" sz="quarter" idx="12"/>
          </p:nvPr>
        </p:nvSpPr>
        <p:spPr/>
        <p:txBody>
          <a:bodyPr/>
          <a:lstStyle/>
          <a:p>
            <a:fld id="{EE9F0C3C-3424-469F-A3DD-35B188274E11}" type="slidenum">
              <a:rPr lang="en-US" smtClean="0"/>
              <a:t>‹#›</a:t>
            </a:fld>
            <a:endParaRPr lang="en-US"/>
          </a:p>
        </p:txBody>
      </p:sp>
    </p:spTree>
    <p:extLst>
      <p:ext uri="{BB962C8B-B14F-4D97-AF65-F5344CB8AC3E}">
        <p14:creationId xmlns:p14="http://schemas.microsoft.com/office/powerpoint/2010/main" val="375869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84B9A-D239-F302-3EF8-F7885EA892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751395-E80C-9664-A767-578178316314}"/>
              </a:ext>
            </a:extLst>
          </p:cNvPr>
          <p:cNvSpPr>
            <a:spLocks noGrp="1"/>
          </p:cNvSpPr>
          <p:nvPr>
            <p:ph type="dt" sz="half" idx="10"/>
          </p:nvPr>
        </p:nvSpPr>
        <p:spPr/>
        <p:txBody>
          <a:bodyPr/>
          <a:lstStyle/>
          <a:p>
            <a:fld id="{2E77CE7E-A04D-4282-AC01-8899270F895B}" type="datetimeFigureOut">
              <a:rPr lang="en-US" smtClean="0"/>
              <a:t>6/29/2026</a:t>
            </a:fld>
            <a:endParaRPr lang="en-US"/>
          </a:p>
        </p:txBody>
      </p:sp>
      <p:sp>
        <p:nvSpPr>
          <p:cNvPr id="4" name="Footer Placeholder 3">
            <a:extLst>
              <a:ext uri="{FF2B5EF4-FFF2-40B4-BE49-F238E27FC236}">
                <a16:creationId xmlns:a16="http://schemas.microsoft.com/office/drawing/2014/main" id="{014D15E9-5618-C03B-7B09-AF01EAAE9E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AA498B2-3475-7025-2101-52CA6F25B262}"/>
              </a:ext>
            </a:extLst>
          </p:cNvPr>
          <p:cNvSpPr>
            <a:spLocks noGrp="1"/>
          </p:cNvSpPr>
          <p:nvPr>
            <p:ph type="sldNum" sz="quarter" idx="12"/>
          </p:nvPr>
        </p:nvSpPr>
        <p:spPr/>
        <p:txBody>
          <a:bodyPr/>
          <a:lstStyle/>
          <a:p>
            <a:fld id="{EE9F0C3C-3424-469F-A3DD-35B188274E11}" type="slidenum">
              <a:rPr lang="en-US" smtClean="0"/>
              <a:t>‹#›</a:t>
            </a:fld>
            <a:endParaRPr lang="en-US"/>
          </a:p>
        </p:txBody>
      </p:sp>
    </p:spTree>
    <p:extLst>
      <p:ext uri="{BB962C8B-B14F-4D97-AF65-F5344CB8AC3E}">
        <p14:creationId xmlns:p14="http://schemas.microsoft.com/office/powerpoint/2010/main" val="906807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B335D9-952A-CD0B-8236-0ED601D4858A}"/>
              </a:ext>
            </a:extLst>
          </p:cNvPr>
          <p:cNvSpPr>
            <a:spLocks noGrp="1"/>
          </p:cNvSpPr>
          <p:nvPr>
            <p:ph type="dt" sz="half" idx="10"/>
          </p:nvPr>
        </p:nvSpPr>
        <p:spPr/>
        <p:txBody>
          <a:bodyPr/>
          <a:lstStyle/>
          <a:p>
            <a:fld id="{2E77CE7E-A04D-4282-AC01-8899270F895B}" type="datetimeFigureOut">
              <a:rPr lang="en-US" smtClean="0"/>
              <a:t>6/29/2026</a:t>
            </a:fld>
            <a:endParaRPr lang="en-US"/>
          </a:p>
        </p:txBody>
      </p:sp>
      <p:sp>
        <p:nvSpPr>
          <p:cNvPr id="3" name="Footer Placeholder 2">
            <a:extLst>
              <a:ext uri="{FF2B5EF4-FFF2-40B4-BE49-F238E27FC236}">
                <a16:creationId xmlns:a16="http://schemas.microsoft.com/office/drawing/2014/main" id="{8557CED4-9B46-592F-9A38-135A0867590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5C9A9B-7DAB-5B84-CB42-6D1719AEAAC8}"/>
              </a:ext>
            </a:extLst>
          </p:cNvPr>
          <p:cNvSpPr>
            <a:spLocks noGrp="1"/>
          </p:cNvSpPr>
          <p:nvPr>
            <p:ph type="sldNum" sz="quarter" idx="12"/>
          </p:nvPr>
        </p:nvSpPr>
        <p:spPr/>
        <p:txBody>
          <a:bodyPr/>
          <a:lstStyle/>
          <a:p>
            <a:fld id="{EE9F0C3C-3424-469F-A3DD-35B188274E11}" type="slidenum">
              <a:rPr lang="en-US" smtClean="0"/>
              <a:t>‹#›</a:t>
            </a:fld>
            <a:endParaRPr lang="en-US"/>
          </a:p>
        </p:txBody>
      </p:sp>
    </p:spTree>
    <p:extLst>
      <p:ext uri="{BB962C8B-B14F-4D97-AF65-F5344CB8AC3E}">
        <p14:creationId xmlns:p14="http://schemas.microsoft.com/office/powerpoint/2010/main" val="126155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9A05B-2614-D26E-6AE8-DCB1BCEDAD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6A7C49-54E5-93D1-C877-0E2320D310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4F6FF0-8C50-876E-1C29-E77C1C94C1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618C3A-60C9-EFBD-622A-986292B7FDB0}"/>
              </a:ext>
            </a:extLst>
          </p:cNvPr>
          <p:cNvSpPr>
            <a:spLocks noGrp="1"/>
          </p:cNvSpPr>
          <p:nvPr>
            <p:ph type="dt" sz="half" idx="10"/>
          </p:nvPr>
        </p:nvSpPr>
        <p:spPr/>
        <p:txBody>
          <a:bodyPr/>
          <a:lstStyle/>
          <a:p>
            <a:fld id="{2E77CE7E-A04D-4282-AC01-8899270F895B}" type="datetimeFigureOut">
              <a:rPr lang="en-US" smtClean="0"/>
              <a:t>6/29/2026</a:t>
            </a:fld>
            <a:endParaRPr lang="en-US"/>
          </a:p>
        </p:txBody>
      </p:sp>
      <p:sp>
        <p:nvSpPr>
          <p:cNvPr id="6" name="Footer Placeholder 5">
            <a:extLst>
              <a:ext uri="{FF2B5EF4-FFF2-40B4-BE49-F238E27FC236}">
                <a16:creationId xmlns:a16="http://schemas.microsoft.com/office/drawing/2014/main" id="{32AAA2B7-4F17-B67B-2686-248C702B60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C2CAA8-C82C-6105-3E37-59B229A0D4DE}"/>
              </a:ext>
            </a:extLst>
          </p:cNvPr>
          <p:cNvSpPr>
            <a:spLocks noGrp="1"/>
          </p:cNvSpPr>
          <p:nvPr>
            <p:ph type="sldNum" sz="quarter" idx="12"/>
          </p:nvPr>
        </p:nvSpPr>
        <p:spPr/>
        <p:txBody>
          <a:bodyPr/>
          <a:lstStyle/>
          <a:p>
            <a:fld id="{EE9F0C3C-3424-469F-A3DD-35B188274E11}" type="slidenum">
              <a:rPr lang="en-US" smtClean="0"/>
              <a:t>‹#›</a:t>
            </a:fld>
            <a:endParaRPr lang="en-US"/>
          </a:p>
        </p:txBody>
      </p:sp>
    </p:spTree>
    <p:extLst>
      <p:ext uri="{BB962C8B-B14F-4D97-AF65-F5344CB8AC3E}">
        <p14:creationId xmlns:p14="http://schemas.microsoft.com/office/powerpoint/2010/main" val="3372467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7AC8C-776E-BFED-E4B5-E3EAA9A173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444641-E085-42B9-CC07-DB8F2B43E9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45ADC7-E015-1B27-7E5C-41A565CCE6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6439DF-E789-E4D7-C356-C3ACDA814900}"/>
              </a:ext>
            </a:extLst>
          </p:cNvPr>
          <p:cNvSpPr>
            <a:spLocks noGrp="1"/>
          </p:cNvSpPr>
          <p:nvPr>
            <p:ph type="dt" sz="half" idx="10"/>
          </p:nvPr>
        </p:nvSpPr>
        <p:spPr/>
        <p:txBody>
          <a:bodyPr/>
          <a:lstStyle/>
          <a:p>
            <a:fld id="{2E77CE7E-A04D-4282-AC01-8899270F895B}" type="datetimeFigureOut">
              <a:rPr lang="en-US" smtClean="0"/>
              <a:t>6/29/2026</a:t>
            </a:fld>
            <a:endParaRPr lang="en-US"/>
          </a:p>
        </p:txBody>
      </p:sp>
      <p:sp>
        <p:nvSpPr>
          <p:cNvPr id="6" name="Footer Placeholder 5">
            <a:extLst>
              <a:ext uri="{FF2B5EF4-FFF2-40B4-BE49-F238E27FC236}">
                <a16:creationId xmlns:a16="http://schemas.microsoft.com/office/drawing/2014/main" id="{D6D9AAB7-5856-20AA-5498-DAB299CB55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857D10-F793-EC23-C0CB-1D069EA4740A}"/>
              </a:ext>
            </a:extLst>
          </p:cNvPr>
          <p:cNvSpPr>
            <a:spLocks noGrp="1"/>
          </p:cNvSpPr>
          <p:nvPr>
            <p:ph type="sldNum" sz="quarter" idx="12"/>
          </p:nvPr>
        </p:nvSpPr>
        <p:spPr/>
        <p:txBody>
          <a:bodyPr/>
          <a:lstStyle/>
          <a:p>
            <a:fld id="{EE9F0C3C-3424-469F-A3DD-35B188274E11}" type="slidenum">
              <a:rPr lang="en-US" smtClean="0"/>
              <a:t>‹#›</a:t>
            </a:fld>
            <a:endParaRPr lang="en-US"/>
          </a:p>
        </p:txBody>
      </p:sp>
    </p:spTree>
    <p:extLst>
      <p:ext uri="{BB962C8B-B14F-4D97-AF65-F5344CB8AC3E}">
        <p14:creationId xmlns:p14="http://schemas.microsoft.com/office/powerpoint/2010/main" val="1217028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74A34-C4F8-8E88-4A4B-F46C889049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125F99-0EEF-3988-DC33-7D679B2B23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D8F846-9F53-4DCB-1308-592A79CDCC1E}"/>
              </a:ext>
            </a:extLst>
          </p:cNvPr>
          <p:cNvSpPr>
            <a:spLocks noGrp="1"/>
          </p:cNvSpPr>
          <p:nvPr>
            <p:ph type="dt" sz="half" idx="10"/>
          </p:nvPr>
        </p:nvSpPr>
        <p:spPr/>
        <p:txBody>
          <a:bodyPr/>
          <a:lstStyle/>
          <a:p>
            <a:fld id="{2E77CE7E-A04D-4282-AC01-8899270F895B}" type="datetimeFigureOut">
              <a:rPr lang="en-US" smtClean="0"/>
              <a:t>6/29/2026</a:t>
            </a:fld>
            <a:endParaRPr lang="en-US"/>
          </a:p>
        </p:txBody>
      </p:sp>
      <p:sp>
        <p:nvSpPr>
          <p:cNvPr id="5" name="Footer Placeholder 4">
            <a:extLst>
              <a:ext uri="{FF2B5EF4-FFF2-40B4-BE49-F238E27FC236}">
                <a16:creationId xmlns:a16="http://schemas.microsoft.com/office/drawing/2014/main" id="{FA914E30-E850-7AEA-4E21-A829A2B70D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309D3B-1FED-4978-BC62-E7C0113BCC4E}"/>
              </a:ext>
            </a:extLst>
          </p:cNvPr>
          <p:cNvSpPr>
            <a:spLocks noGrp="1"/>
          </p:cNvSpPr>
          <p:nvPr>
            <p:ph type="sldNum" sz="quarter" idx="12"/>
          </p:nvPr>
        </p:nvSpPr>
        <p:spPr/>
        <p:txBody>
          <a:bodyPr/>
          <a:lstStyle/>
          <a:p>
            <a:fld id="{EE9F0C3C-3424-469F-A3DD-35B188274E11}" type="slidenum">
              <a:rPr lang="en-US" smtClean="0"/>
              <a:t>‹#›</a:t>
            </a:fld>
            <a:endParaRPr lang="en-US"/>
          </a:p>
        </p:txBody>
      </p:sp>
    </p:spTree>
    <p:extLst>
      <p:ext uri="{BB962C8B-B14F-4D97-AF65-F5344CB8AC3E}">
        <p14:creationId xmlns:p14="http://schemas.microsoft.com/office/powerpoint/2010/main" val="3602500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316071-F0DE-817F-2D9B-68C4139878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2FFB90-77EF-CAD6-03ED-DF7784227E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F1CA6-5476-09E0-DEA7-9278DBD3FD81}"/>
              </a:ext>
            </a:extLst>
          </p:cNvPr>
          <p:cNvSpPr>
            <a:spLocks noGrp="1"/>
          </p:cNvSpPr>
          <p:nvPr>
            <p:ph type="dt" sz="half" idx="10"/>
          </p:nvPr>
        </p:nvSpPr>
        <p:spPr/>
        <p:txBody>
          <a:bodyPr/>
          <a:lstStyle/>
          <a:p>
            <a:fld id="{2E77CE7E-A04D-4282-AC01-8899270F895B}" type="datetimeFigureOut">
              <a:rPr lang="en-US" smtClean="0"/>
              <a:t>6/29/2026</a:t>
            </a:fld>
            <a:endParaRPr lang="en-US"/>
          </a:p>
        </p:txBody>
      </p:sp>
      <p:sp>
        <p:nvSpPr>
          <p:cNvPr id="5" name="Footer Placeholder 4">
            <a:extLst>
              <a:ext uri="{FF2B5EF4-FFF2-40B4-BE49-F238E27FC236}">
                <a16:creationId xmlns:a16="http://schemas.microsoft.com/office/drawing/2014/main" id="{0EB1F33E-5048-8804-AA30-2B935C1089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D51D6F-C49D-F18F-0910-80376C222A8C}"/>
              </a:ext>
            </a:extLst>
          </p:cNvPr>
          <p:cNvSpPr>
            <a:spLocks noGrp="1"/>
          </p:cNvSpPr>
          <p:nvPr>
            <p:ph type="sldNum" sz="quarter" idx="12"/>
          </p:nvPr>
        </p:nvSpPr>
        <p:spPr/>
        <p:txBody>
          <a:bodyPr/>
          <a:lstStyle/>
          <a:p>
            <a:fld id="{EE9F0C3C-3424-469F-A3DD-35B188274E11}" type="slidenum">
              <a:rPr lang="en-US" smtClean="0"/>
              <a:t>‹#›</a:t>
            </a:fld>
            <a:endParaRPr lang="en-US"/>
          </a:p>
        </p:txBody>
      </p:sp>
    </p:spTree>
    <p:extLst>
      <p:ext uri="{BB962C8B-B14F-4D97-AF65-F5344CB8AC3E}">
        <p14:creationId xmlns:p14="http://schemas.microsoft.com/office/powerpoint/2010/main" val="3796282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306168-7100-D845-DA6A-00432E6B28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036D87D-3C4C-ABA2-0097-F596EB2D5B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E43B33-7E00-5A56-7C4B-F941E7DD37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77CE7E-A04D-4282-AC01-8899270F895B}" type="datetimeFigureOut">
              <a:rPr lang="en-US" smtClean="0"/>
              <a:t>6/29/2026</a:t>
            </a:fld>
            <a:endParaRPr lang="en-US"/>
          </a:p>
        </p:txBody>
      </p:sp>
      <p:sp>
        <p:nvSpPr>
          <p:cNvPr id="5" name="Footer Placeholder 4">
            <a:extLst>
              <a:ext uri="{FF2B5EF4-FFF2-40B4-BE49-F238E27FC236}">
                <a16:creationId xmlns:a16="http://schemas.microsoft.com/office/drawing/2014/main" id="{7B1392A0-E848-194A-BBD3-9F55C81748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C5F1AA-B690-BAC6-FE56-676F8907A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9F0C3C-3424-469F-A3DD-35B188274E11}" type="slidenum">
              <a:rPr lang="en-US" smtClean="0"/>
              <a:t>‹#›</a:t>
            </a:fld>
            <a:endParaRPr lang="en-US"/>
          </a:p>
        </p:txBody>
      </p:sp>
    </p:spTree>
    <p:extLst>
      <p:ext uri="{BB962C8B-B14F-4D97-AF65-F5344CB8AC3E}">
        <p14:creationId xmlns:p14="http://schemas.microsoft.com/office/powerpoint/2010/main" val="1937115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7773AD-BE1D-DCF6-F81D-8B81D14F8103}"/>
              </a:ext>
            </a:extLst>
          </p:cNvPr>
          <p:cNvPicPr>
            <a:picLocks noChangeAspect="1"/>
          </p:cNvPicPr>
          <p:nvPr/>
        </p:nvPicPr>
        <p:blipFill>
          <a:blip r:embed="rId2"/>
          <a:stretch>
            <a:fillRect/>
          </a:stretch>
        </p:blipFill>
        <p:spPr>
          <a:xfrm>
            <a:off x="10340829" y="323556"/>
            <a:ext cx="1553729" cy="387644"/>
          </a:xfrm>
          <a:prstGeom prst="rect">
            <a:avLst/>
          </a:prstGeom>
        </p:spPr>
      </p:pic>
      <p:sp>
        <p:nvSpPr>
          <p:cNvPr id="4" name="TextBox 3">
            <a:extLst>
              <a:ext uri="{FF2B5EF4-FFF2-40B4-BE49-F238E27FC236}">
                <a16:creationId xmlns:a16="http://schemas.microsoft.com/office/drawing/2014/main" id="{0ECD808B-79FF-65D7-B74B-1A104D98974E}"/>
              </a:ext>
            </a:extLst>
          </p:cNvPr>
          <p:cNvSpPr txBox="1"/>
          <p:nvPr/>
        </p:nvSpPr>
        <p:spPr>
          <a:xfrm>
            <a:off x="2582957" y="2674947"/>
            <a:ext cx="5301870" cy="984885"/>
          </a:xfrm>
          <a:prstGeom prst="rect">
            <a:avLst/>
          </a:prstGeom>
          <a:noFill/>
        </p:spPr>
        <p:txBody>
          <a:bodyPr wrap="square">
            <a:spAutoFit/>
          </a:bodyPr>
          <a:lstStyle/>
          <a:p>
            <a:r>
              <a:rPr lang="en-US" sz="2800" b="1" dirty="0"/>
              <a:t>COSMIC CASE SLA Prediction </a:t>
            </a:r>
            <a:r>
              <a:rPr lang="en-US" sz="1200" b="1" dirty="0"/>
              <a:t>Catboost Machine Learning Algorithm</a:t>
            </a:r>
            <a:r>
              <a:rPr lang="en-US" b="1" dirty="0"/>
              <a:t> </a:t>
            </a:r>
          </a:p>
          <a:p>
            <a:r>
              <a:rPr lang="en-US" sz="1200" dirty="0"/>
              <a:t>Date : 2-9-2026</a:t>
            </a:r>
          </a:p>
        </p:txBody>
      </p:sp>
      <p:pic>
        <p:nvPicPr>
          <p:cNvPr id="5" name="Picture 2" descr="CatBoost - An In-Depth Guide">
            <a:extLst>
              <a:ext uri="{FF2B5EF4-FFF2-40B4-BE49-F238E27FC236}">
                <a16:creationId xmlns:a16="http://schemas.microsoft.com/office/drawing/2014/main" id="{26C9A4C1-41EB-BA09-429F-B62E2A85E9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163" y="5323712"/>
            <a:ext cx="11771587" cy="1346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7269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F148CC-0208-7C0F-1D00-DBE3C5D8DD7C}"/>
              </a:ext>
            </a:extLst>
          </p:cNvPr>
          <p:cNvSpPr txBox="1"/>
          <p:nvPr/>
        </p:nvSpPr>
        <p:spPr>
          <a:xfrm>
            <a:off x="1559740" y="792893"/>
            <a:ext cx="7972678" cy="4524315"/>
          </a:xfrm>
          <a:prstGeom prst="rect">
            <a:avLst/>
          </a:prstGeom>
          <a:noFill/>
        </p:spPr>
        <p:txBody>
          <a:bodyPr wrap="square">
            <a:spAutoFit/>
          </a:bodyPr>
          <a:lstStyle/>
          <a:p>
            <a:pPr>
              <a:buNone/>
            </a:pPr>
            <a:r>
              <a:rPr lang="en-US" b="1" dirty="0"/>
              <a:t>Cosmic Case SLA Prediction</a:t>
            </a:r>
            <a:endParaRPr lang="en-US" dirty="0"/>
          </a:p>
          <a:p>
            <a:pPr>
              <a:buNone/>
            </a:pPr>
            <a:r>
              <a:rPr lang="en-US" dirty="0"/>
              <a:t> </a:t>
            </a:r>
          </a:p>
          <a:p>
            <a:pPr>
              <a:buNone/>
            </a:pPr>
            <a:r>
              <a:rPr lang="en-US" dirty="0"/>
              <a:t>The COSMIC Case SLA Prediction project focuses on building a supervised regression model to predict case closure time at the point of case creation for license ticket requests. Each case is represented using structured categorical features including region, business function, line of business, case type, case reason, and country submitter. The modeling dataset comprises approximately 500,000 historical records, framing the problem as a large‑scale regression task with categorical feature dominance.</a:t>
            </a:r>
          </a:p>
          <a:p>
            <a:pPr>
              <a:buNone/>
            </a:pPr>
            <a:r>
              <a:rPr lang="en-US" dirty="0"/>
              <a:t>Model development was carried out using </a:t>
            </a:r>
            <a:r>
              <a:rPr lang="en-US" dirty="0" err="1"/>
              <a:t>CatBoost</a:t>
            </a:r>
            <a:r>
              <a:rPr lang="en-US" dirty="0"/>
              <a:t> and </a:t>
            </a:r>
            <a:r>
              <a:rPr lang="en-US" dirty="0" err="1"/>
              <a:t>LightBoost</a:t>
            </a:r>
            <a:r>
              <a:rPr lang="en-US" dirty="0"/>
              <a:t> gradient‑boosted decision tree algorithms, selected for their effectiveness on structured, categorical‑heavy datasets. The end‑to‑end machine learning pipeline included exploratory data analysis, feature engineering, model training, performance evaluation, hyperparameter tuning, and inferencing, resulting in a robust predictive framework capable of generating SLA estimates for newly created cases.</a:t>
            </a:r>
          </a:p>
        </p:txBody>
      </p:sp>
    </p:spTree>
    <p:extLst>
      <p:ext uri="{BB962C8B-B14F-4D97-AF65-F5344CB8AC3E}">
        <p14:creationId xmlns:p14="http://schemas.microsoft.com/office/powerpoint/2010/main" val="1474714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C149DC2-EC4C-5D3C-33C2-8994FCE49409}"/>
              </a:ext>
            </a:extLst>
          </p:cNvPr>
          <p:cNvSpPr txBox="1"/>
          <p:nvPr/>
        </p:nvSpPr>
        <p:spPr>
          <a:xfrm>
            <a:off x="220493" y="439426"/>
            <a:ext cx="11751013" cy="6340197"/>
          </a:xfrm>
          <a:prstGeom prst="rect">
            <a:avLst/>
          </a:prstGeom>
          <a:noFill/>
        </p:spPr>
        <p:txBody>
          <a:bodyPr wrap="square">
            <a:spAutoFit/>
          </a:bodyPr>
          <a:lstStyle/>
          <a:p>
            <a:r>
              <a:rPr lang="en-US" sz="1400" b="1" dirty="0"/>
              <a:t>ML Algorithm Comparative Analysis</a:t>
            </a:r>
            <a:r>
              <a:rPr lang="en-US" sz="1400" dirty="0"/>
              <a:t> — Systematically evaluated </a:t>
            </a:r>
            <a:r>
              <a:rPr lang="en-US" sz="1400" dirty="0" err="1"/>
              <a:t>XGBoost</a:t>
            </a:r>
            <a:r>
              <a:rPr lang="en-US" sz="1400" dirty="0"/>
              <a:t>, </a:t>
            </a:r>
            <a:r>
              <a:rPr lang="en-US" sz="1400" dirty="0" err="1"/>
              <a:t>LightGBM</a:t>
            </a:r>
            <a:r>
              <a:rPr lang="en-US" sz="1400" dirty="0"/>
              <a:t>, and </a:t>
            </a:r>
            <a:r>
              <a:rPr lang="en-US" sz="1400" dirty="0" err="1"/>
              <a:t>CatBoost</a:t>
            </a:r>
            <a:r>
              <a:rPr lang="en-US" sz="1400" dirty="0"/>
              <a:t> for SLA prediction across five dimensions: categorical feature handling, high-cardinality performance, speed on ~1M rows, accuracy on mixed data, and suitability for 1M-level cardinality. </a:t>
            </a:r>
            <a:r>
              <a:rPr lang="en-US" sz="1400" dirty="0" err="1"/>
              <a:t>CatBoost</a:t>
            </a:r>
            <a:r>
              <a:rPr lang="en-US" sz="1400" dirty="0"/>
              <a:t> selected for native categorical handling and ordered boosting. Researched outlier handling strategies (IQR, Z-Score, Log Transform, Box Plot, Capping at 95th percentile, MAE vs MSE tradeoffs). </a:t>
            </a:r>
          </a:p>
          <a:p>
            <a:endParaRPr lang="en-US" sz="1400" dirty="0"/>
          </a:p>
          <a:p>
            <a:r>
              <a:rPr lang="en-US" sz="1400" b="1" dirty="0"/>
              <a:t>Log Transformation for Skewness</a:t>
            </a:r>
            <a:r>
              <a:rPr lang="en-US" sz="1400" dirty="0"/>
              <a:t> — Applied </a:t>
            </a:r>
            <a:r>
              <a:rPr lang="en-US" sz="1400" dirty="0">
                <a:latin typeface="Courier New" panose="02070309020205020404" pitchFamily="49" charset="0"/>
              </a:rPr>
              <a:t>log1p(</a:t>
            </a:r>
            <a:r>
              <a:rPr lang="en-US" sz="1400" dirty="0" err="1">
                <a:latin typeface="Courier New" panose="02070309020205020404" pitchFamily="49" charset="0"/>
              </a:rPr>
              <a:t>target_minutes</a:t>
            </a:r>
            <a:r>
              <a:rPr lang="en-US" sz="1400" dirty="0">
                <a:latin typeface="Courier New" panose="02070309020205020404" pitchFamily="49" charset="0"/>
              </a:rPr>
              <a:t>)</a:t>
            </a:r>
            <a:r>
              <a:rPr lang="en-US" sz="1400" dirty="0"/>
              <a:t> transformation (</a:t>
            </a:r>
            <a:r>
              <a:rPr lang="en-US" sz="1400" dirty="0">
                <a:latin typeface="Courier New" panose="02070309020205020404" pitchFamily="49" charset="0"/>
              </a:rPr>
              <a:t>y = ln(1+x)</a:t>
            </a:r>
            <a:r>
              <a:rPr lang="en-US" sz="1400" dirty="0"/>
              <a:t>) to handle long-tail skewness in duration distribution; trained the regression model on the log-transformed target to normalize the heavily right-skewed SLA duration data. </a:t>
            </a:r>
          </a:p>
          <a:p>
            <a:endParaRPr lang="en-US" sz="1400" b="1" dirty="0"/>
          </a:p>
          <a:p>
            <a:r>
              <a:rPr lang="en-US" sz="1400" b="1" dirty="0"/>
              <a:t>Feature Engineering &amp; Derivation</a:t>
            </a:r>
            <a:r>
              <a:rPr lang="en-US" sz="1400" dirty="0"/>
              <a:t> — Derived four engineered features beyond the raw dataset: </a:t>
            </a:r>
            <a:r>
              <a:rPr lang="en-US" sz="1400" dirty="0" err="1">
                <a:latin typeface="Courier New" panose="02070309020205020404" pitchFamily="49" charset="0"/>
              </a:rPr>
              <a:t>Daily_volume</a:t>
            </a:r>
            <a:r>
              <a:rPr lang="en-US" sz="1400" dirty="0"/>
              <a:t> (case count per received date capturing team workload), </a:t>
            </a:r>
            <a:r>
              <a:rPr lang="en-US" sz="1400" dirty="0" err="1">
                <a:latin typeface="Courier New" panose="02070309020205020404" pitchFamily="49" charset="0"/>
              </a:rPr>
              <a:t>hour_of_day</a:t>
            </a:r>
            <a:r>
              <a:rPr lang="en-US" sz="1400" dirty="0"/>
              <a:t> (submission time-of-day effects), </a:t>
            </a:r>
            <a:r>
              <a:rPr lang="en-US" sz="1400" dirty="0" err="1">
                <a:latin typeface="Courier New" panose="02070309020205020404" pitchFamily="49" charset="0"/>
              </a:rPr>
              <a:t>day_of_week</a:t>
            </a:r>
            <a:r>
              <a:rPr lang="en-US" sz="1400" dirty="0"/>
              <a:t> (weekday/weekend patterns), and </a:t>
            </a:r>
            <a:r>
              <a:rPr lang="en-US" sz="1400" dirty="0" err="1">
                <a:latin typeface="Courier New" panose="02070309020205020404" pitchFamily="49" charset="0"/>
              </a:rPr>
              <a:t>reason_median_speed</a:t>
            </a:r>
            <a:r>
              <a:rPr lang="en-US" sz="1400" dirty="0"/>
              <a:t> (target encoding — median </a:t>
            </a:r>
            <a:r>
              <a:rPr lang="en-US" sz="1400" dirty="0" err="1"/>
              <a:t>target_minutes</a:t>
            </a:r>
            <a:r>
              <a:rPr lang="en-US" sz="1400" dirty="0"/>
              <a:t> per case reason, embedding historical resolution speed). Combined with 10 original dataset features including ROC, Line of Business, Program, Case Type/Subtype/Reason/</a:t>
            </a:r>
            <a:r>
              <a:rPr lang="en-US" sz="1400" dirty="0" err="1"/>
              <a:t>Subreason</a:t>
            </a:r>
            <a:r>
              <a:rPr lang="en-US" sz="1400" dirty="0"/>
              <a:t>, and Country. </a:t>
            </a:r>
          </a:p>
          <a:p>
            <a:endParaRPr lang="en-US" sz="1400" b="1" dirty="0"/>
          </a:p>
          <a:p>
            <a:r>
              <a:rPr lang="en-US" sz="1400" b="1" dirty="0"/>
              <a:t>Hold Time Feature Engineering</a:t>
            </a:r>
            <a:r>
              <a:rPr lang="en-US" sz="1400" dirty="0"/>
              <a:t> — Studied overlapping hold record patterns across 170K records; researched interval merging algorithms to derive non-overlapping timelines; built compressed intelligence features (</a:t>
            </a:r>
            <a:r>
              <a:rPr lang="en-US" sz="1400" dirty="0" err="1"/>
              <a:t>TotalHoldMinutes</a:t>
            </a:r>
            <a:r>
              <a:rPr lang="en-US" sz="1400" dirty="0"/>
              <a:t>, </a:t>
            </a:r>
            <a:r>
              <a:rPr lang="en-US" sz="1400" dirty="0" err="1"/>
              <a:t>MaxConsecutiveHoldDuration</a:t>
            </a:r>
            <a:r>
              <a:rPr lang="en-US" sz="1400" dirty="0"/>
              <a:t>, </a:t>
            </a:r>
            <a:r>
              <a:rPr lang="en-US" sz="1400" dirty="0" err="1"/>
              <a:t>AvgHoldDuration</a:t>
            </a:r>
            <a:r>
              <a:rPr lang="en-US" sz="1400" dirty="0"/>
              <a:t>, </a:t>
            </a:r>
            <a:r>
              <a:rPr lang="en-US" sz="1400" dirty="0" err="1"/>
              <a:t>NumberOfHoldSegments</a:t>
            </a:r>
            <a:r>
              <a:rPr lang="en-US" sz="1400" dirty="0"/>
              <a:t>, </a:t>
            </a:r>
            <a:r>
              <a:rPr lang="en-US" sz="1400" dirty="0" err="1"/>
              <a:t>EntropyOfReasons</a:t>
            </a:r>
            <a:r>
              <a:rPr lang="en-US" sz="1400" dirty="0"/>
              <a:t>, %</a:t>
            </a:r>
            <a:r>
              <a:rPr lang="en-US" sz="1400" dirty="0" err="1"/>
              <a:t>TimeInTopReason</a:t>
            </a:r>
            <a:r>
              <a:rPr lang="en-US" sz="1400" dirty="0"/>
              <a:t>, </a:t>
            </a:r>
            <a:r>
              <a:rPr lang="en-US" sz="1400" dirty="0" err="1"/>
              <a:t>DominantReason</a:t>
            </a:r>
            <a:r>
              <a:rPr lang="en-US" sz="1400" dirty="0"/>
              <a:t>, </a:t>
            </a:r>
            <a:r>
              <a:rPr lang="en-US" sz="1400" dirty="0" err="1"/>
              <a:t>FirstHoldReason</a:t>
            </a:r>
            <a:r>
              <a:rPr lang="en-US" sz="1400" dirty="0"/>
              <a:t>, </a:t>
            </a:r>
            <a:r>
              <a:rPr lang="en-US" sz="1400" dirty="0" err="1"/>
              <a:t>LastHoldReason</a:t>
            </a:r>
            <a:r>
              <a:rPr lang="en-US" sz="1400" dirty="0"/>
              <a:t>, </a:t>
            </a:r>
            <a:r>
              <a:rPr lang="en-US" sz="1400" dirty="0" err="1"/>
              <a:t>MostFrequentReason</a:t>
            </a:r>
            <a:r>
              <a:rPr lang="en-US" sz="1400" dirty="0"/>
              <a:t>, </a:t>
            </a:r>
            <a:r>
              <a:rPr lang="en-US" sz="1400" dirty="0" err="1"/>
              <a:t>NumberOfReasonSwitches</a:t>
            </a:r>
            <a:r>
              <a:rPr lang="en-US" sz="1400" dirty="0"/>
              <a:t>) and validated their predictive significance for SLA outcomes. </a:t>
            </a:r>
          </a:p>
          <a:p>
            <a:endParaRPr lang="en-US" sz="1400" b="1" dirty="0"/>
          </a:p>
          <a:p>
            <a:r>
              <a:rPr lang="en-US" sz="1400" b="1" dirty="0"/>
              <a:t>High-Cardinality Categorical Feature Handling</a:t>
            </a:r>
            <a:r>
              <a:rPr lang="en-US" sz="1400" dirty="0"/>
              <a:t> — Researched strategies for managing up to 140 categorical features: label encoding with </a:t>
            </a:r>
            <a:r>
              <a:rPr lang="en-US" sz="1400" dirty="0">
                <a:latin typeface="Courier New" panose="02070309020205020404" pitchFamily="49" charset="0"/>
              </a:rPr>
              <a:t>ENABLE_CATEGORY=TRUE</a:t>
            </a:r>
            <a:r>
              <a:rPr lang="en-US" sz="1400" dirty="0"/>
              <a:t>, grouping low-occurrence categories (fewer than 100 cases), truncation strategies, and exploratory data analysis on category distribution across features. </a:t>
            </a:r>
          </a:p>
          <a:p>
            <a:endParaRPr lang="en-US" sz="1400" b="1" dirty="0"/>
          </a:p>
          <a:p>
            <a:r>
              <a:rPr lang="en-US" sz="1400" b="1" dirty="0"/>
              <a:t>Exploratory Data Analysis &amp; Visualization</a:t>
            </a:r>
            <a:r>
              <a:rPr lang="en-US" sz="1400" dirty="0"/>
              <a:t> — Published category distribution charts across all features, skewness distribution plots with long-tail analysis, box plots for outlier identification, violin plots for distortion comparison across Line of Business × Case </a:t>
            </a:r>
            <a:r>
              <a:rPr lang="en-US" sz="1400" dirty="0" err="1"/>
              <a:t>Subreason</a:t>
            </a:r>
            <a:r>
              <a:rPr lang="en-US" sz="1400" dirty="0"/>
              <a:t> combinations. EDA drove decisions on truncation thresholds, feature selection, and outlier capping. </a:t>
            </a:r>
          </a:p>
          <a:p>
            <a:endParaRPr lang="en-US" sz="1400" b="1" dirty="0"/>
          </a:p>
          <a:p>
            <a:r>
              <a:rPr lang="en-US" sz="1400" b="1" dirty="0"/>
              <a:t>Hyperparameter Tuning</a:t>
            </a:r>
            <a:r>
              <a:rPr lang="en-US" sz="1400" dirty="0"/>
              <a:t> — Compared </a:t>
            </a:r>
            <a:r>
              <a:rPr lang="en-US" sz="1400" dirty="0" err="1"/>
              <a:t>GridSearchCV</a:t>
            </a:r>
            <a:r>
              <a:rPr lang="en-US" sz="1400" dirty="0"/>
              <a:t> vs </a:t>
            </a:r>
            <a:r>
              <a:rPr lang="en-US" sz="1400" dirty="0" err="1"/>
              <a:t>Optuna</a:t>
            </a:r>
            <a:r>
              <a:rPr lang="en-US" sz="1400" dirty="0"/>
              <a:t> Bayesian optimization. </a:t>
            </a:r>
            <a:r>
              <a:rPr lang="en-US" sz="1400" dirty="0" err="1"/>
              <a:t>GridSearchCV</a:t>
            </a:r>
            <a:r>
              <a:rPr lang="en-US" sz="1400" dirty="0"/>
              <a:t> yielded final parameters: </a:t>
            </a:r>
            <a:r>
              <a:rPr lang="en-US" sz="1400" dirty="0">
                <a:latin typeface="Courier New" panose="02070309020205020404" pitchFamily="49" charset="0"/>
              </a:rPr>
              <a:t>iterations=3000</a:t>
            </a:r>
            <a:r>
              <a:rPr lang="en-US" sz="1400" dirty="0"/>
              <a:t>, </a:t>
            </a:r>
            <a:r>
              <a:rPr lang="en-US" sz="1400" dirty="0" err="1">
                <a:latin typeface="Courier New" panose="02070309020205020404" pitchFamily="49" charset="0"/>
              </a:rPr>
              <a:t>learning_rate</a:t>
            </a:r>
            <a:r>
              <a:rPr lang="en-US" sz="1400" dirty="0">
                <a:latin typeface="Courier New" panose="02070309020205020404" pitchFamily="49" charset="0"/>
              </a:rPr>
              <a:t>=0.015</a:t>
            </a:r>
            <a:r>
              <a:rPr lang="en-US" sz="1400" dirty="0"/>
              <a:t>, </a:t>
            </a:r>
            <a:r>
              <a:rPr lang="en-US" sz="1400" dirty="0">
                <a:latin typeface="Courier New" panose="02070309020205020404" pitchFamily="49" charset="0"/>
              </a:rPr>
              <a:t>depth=10</a:t>
            </a:r>
            <a:r>
              <a:rPr lang="en-US" sz="1400" dirty="0"/>
              <a:t>, </a:t>
            </a:r>
            <a:r>
              <a:rPr lang="en-US" sz="1400" dirty="0">
                <a:latin typeface="Courier New" panose="02070309020205020404" pitchFamily="49" charset="0"/>
              </a:rPr>
              <a:t>l2_leaf_reg=12</a:t>
            </a:r>
            <a:r>
              <a:rPr lang="en-US" sz="1400" dirty="0"/>
              <a:t>, </a:t>
            </a:r>
            <a:r>
              <a:rPr lang="en-US" sz="1400" dirty="0" err="1">
                <a:latin typeface="Courier New" panose="02070309020205020404" pitchFamily="49" charset="0"/>
              </a:rPr>
              <a:t>bagging_temperature</a:t>
            </a:r>
            <a:r>
              <a:rPr lang="en-US" sz="1400" dirty="0">
                <a:latin typeface="Courier New" panose="02070309020205020404" pitchFamily="49" charset="0"/>
              </a:rPr>
              <a:t>=0.2</a:t>
            </a:r>
            <a:r>
              <a:rPr lang="en-US" sz="1400" dirty="0"/>
              <a:t>, </a:t>
            </a:r>
            <a:r>
              <a:rPr lang="en-US" sz="1400" dirty="0" err="1">
                <a:latin typeface="Courier New" panose="02070309020205020404" pitchFamily="49" charset="0"/>
              </a:rPr>
              <a:t>loss_function</a:t>
            </a:r>
            <a:r>
              <a:rPr lang="en-US" sz="1400" dirty="0">
                <a:latin typeface="Courier New" panose="02070309020205020404" pitchFamily="49" charset="0"/>
              </a:rPr>
              <a:t>=MAE</a:t>
            </a:r>
            <a:r>
              <a:rPr lang="en-US" sz="1400" dirty="0"/>
              <a:t>, </a:t>
            </a:r>
            <a:r>
              <a:rPr lang="en-US" sz="1400" dirty="0" err="1">
                <a:latin typeface="Courier New" panose="02070309020205020404" pitchFamily="49" charset="0"/>
              </a:rPr>
              <a:t>eval_metric</a:t>
            </a:r>
            <a:r>
              <a:rPr lang="en-US" sz="1400" dirty="0">
                <a:latin typeface="Courier New" panose="02070309020205020404" pitchFamily="49" charset="0"/>
              </a:rPr>
              <a:t>=R2</a:t>
            </a:r>
            <a:r>
              <a:rPr lang="en-US" sz="1400" dirty="0"/>
              <a:t>, </a:t>
            </a:r>
            <a:r>
              <a:rPr lang="en-US" sz="1400" dirty="0" err="1">
                <a:latin typeface="Courier New" panose="02070309020205020404" pitchFamily="49" charset="0"/>
              </a:rPr>
              <a:t>od_type</a:t>
            </a:r>
            <a:r>
              <a:rPr lang="en-US" sz="1400" dirty="0">
                <a:latin typeface="Courier New" panose="02070309020205020404" pitchFamily="49" charset="0"/>
              </a:rPr>
              <a:t>=Iter</a:t>
            </a:r>
            <a:r>
              <a:rPr lang="en-US" sz="1400" dirty="0"/>
              <a:t>, </a:t>
            </a:r>
            <a:r>
              <a:rPr lang="en-US" sz="1400" dirty="0" err="1">
                <a:latin typeface="Courier New" panose="02070309020205020404" pitchFamily="49" charset="0"/>
              </a:rPr>
              <a:t>od_wait</a:t>
            </a:r>
            <a:r>
              <a:rPr lang="en-US" sz="1400" dirty="0">
                <a:latin typeface="Courier New" panose="02070309020205020404" pitchFamily="49" charset="0"/>
              </a:rPr>
              <a:t>=200</a:t>
            </a:r>
            <a:r>
              <a:rPr lang="en-US" sz="1400" dirty="0"/>
              <a:t>. </a:t>
            </a:r>
            <a:r>
              <a:rPr lang="en-US" sz="1400" dirty="0" err="1"/>
              <a:t>Optuna</a:t>
            </a:r>
            <a:r>
              <a:rPr lang="en-US" sz="1400" dirty="0"/>
              <a:t>-Bayesian did not yield better R² or MAE and took ~26 hours vs </a:t>
            </a:r>
            <a:r>
              <a:rPr lang="en-US" sz="1400" dirty="0" err="1"/>
              <a:t>GridSearchCV's</a:t>
            </a:r>
            <a:r>
              <a:rPr lang="en-US" sz="1400" dirty="0"/>
              <a:t> ~3 hours.</a:t>
            </a:r>
          </a:p>
        </p:txBody>
      </p:sp>
      <p:sp>
        <p:nvSpPr>
          <p:cNvPr id="7" name="TextBox 6">
            <a:extLst>
              <a:ext uri="{FF2B5EF4-FFF2-40B4-BE49-F238E27FC236}">
                <a16:creationId xmlns:a16="http://schemas.microsoft.com/office/drawing/2014/main" id="{CFD15F9C-254A-808E-37EF-C8A1DDB0B972}"/>
              </a:ext>
            </a:extLst>
          </p:cNvPr>
          <p:cNvSpPr txBox="1"/>
          <p:nvPr/>
        </p:nvSpPr>
        <p:spPr>
          <a:xfrm>
            <a:off x="220493" y="26736"/>
            <a:ext cx="2514240" cy="461665"/>
          </a:xfrm>
          <a:prstGeom prst="rect">
            <a:avLst/>
          </a:prstGeom>
          <a:noFill/>
        </p:spPr>
        <p:txBody>
          <a:bodyPr wrap="square">
            <a:spAutoFit/>
          </a:bodyPr>
          <a:lstStyle/>
          <a:p>
            <a:r>
              <a:rPr lang="en-US" sz="2400" b="1" u="sng" dirty="0"/>
              <a:t>Activities done</a:t>
            </a:r>
            <a:endParaRPr lang="en-US" sz="1100" u="sng" dirty="0"/>
          </a:p>
        </p:txBody>
      </p:sp>
    </p:spTree>
    <p:extLst>
      <p:ext uri="{BB962C8B-B14F-4D97-AF65-F5344CB8AC3E}">
        <p14:creationId xmlns:p14="http://schemas.microsoft.com/office/powerpoint/2010/main" val="715484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6551A-0303-5C5A-17C6-B3EE64B4B07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7BDE94E-B47A-6232-7B52-F0AEA569B93B}"/>
              </a:ext>
            </a:extLst>
          </p:cNvPr>
          <p:cNvSpPr txBox="1"/>
          <p:nvPr/>
        </p:nvSpPr>
        <p:spPr>
          <a:xfrm>
            <a:off x="245533" y="582067"/>
            <a:ext cx="11946467" cy="5693866"/>
          </a:xfrm>
          <a:prstGeom prst="rect">
            <a:avLst/>
          </a:prstGeom>
          <a:noFill/>
        </p:spPr>
        <p:txBody>
          <a:bodyPr wrap="square">
            <a:spAutoFit/>
          </a:bodyPr>
          <a:lstStyle/>
          <a:p>
            <a:r>
              <a:rPr lang="en-US" sz="1400" b="1" dirty="0"/>
              <a:t>Multi-Model Inference with Threshold-Based Routing</a:t>
            </a:r>
            <a:r>
              <a:rPr lang="en-US" sz="1400" dirty="0"/>
              <a:t> — Built combined Regressor + Classifier inference pipeline. Regressor predicts SLA duration; Classifier categorizes risk. Integrated both models with threshold-based routing, tested with different quartile thresholds (0.75, 0.8) for truncation. Frontend developed to compare predicted vs actual values side by side. </a:t>
            </a:r>
          </a:p>
          <a:p>
            <a:endParaRPr lang="en-US" sz="1400" b="1" dirty="0"/>
          </a:p>
          <a:p>
            <a:r>
              <a:rPr lang="en-US" sz="1400" b="1" dirty="0"/>
              <a:t>Inference Pipeline for Live Cases</a:t>
            </a:r>
            <a:r>
              <a:rPr lang="en-US" sz="1400" dirty="0"/>
              <a:t> — Developed inference code deployed to Azure Function App that accepts new case payloads via POST endpoint, runs prediction, and stores both the input payload and prediction output in Blob Storage. Frontend built to upload actual case values, invoke the prediction endpoint, and generate a comparison table of predicted vs actual SLA duration. </a:t>
            </a:r>
          </a:p>
          <a:p>
            <a:endParaRPr lang="en-US" sz="1400" b="1" dirty="0"/>
          </a:p>
          <a:p>
            <a:r>
              <a:rPr lang="en-US" sz="1400" b="1" dirty="0"/>
              <a:t>Performance Metrics &amp; Score Progression</a:t>
            </a:r>
            <a:r>
              <a:rPr lang="en-US" sz="1400" dirty="0"/>
              <a:t> — Tracked R² progression through iterative improvements: 0.49 → 0.51 → 0.59 → final 0.6014 with MAE of 102.89 minutes, truncated at 75th percentile. Performance metrics used: R² (variance explained by independent variables) and MAE (mean absolute error from derived equation). Identified root causes for remaining variance: cases reopened multiple times, tasks completed but not closed, human agent back-and-forth, and cases solved in under 5–30 minutes. </a:t>
            </a:r>
          </a:p>
          <a:p>
            <a:endParaRPr lang="en-US" sz="1400" b="1" dirty="0"/>
          </a:p>
          <a:p>
            <a:r>
              <a:rPr lang="en-US" sz="1400" b="1" dirty="0"/>
              <a:t>Dataset Refinement &amp; Segmentation Strategy</a:t>
            </a:r>
            <a:r>
              <a:rPr lang="en-US" sz="1400" dirty="0"/>
              <a:t> — Filtered extreme duration outliers (360 days → ≤31 days with SL and Signature-to-Invoice scoping), built exclusive models on category subsets (METEAOP </a:t>
            </a:r>
            <a:r>
              <a:rPr lang="en-US" sz="1400" dirty="0" err="1"/>
              <a:t>subreason</a:t>
            </a:r>
            <a:r>
              <a:rPr lang="en-US" sz="1400" dirty="0"/>
              <a:t>), scaled from curated subsets to 1,048,468 records (2025 data) with quartile-based filtering at 0.8. Identified audit history as source for new features explaining completion time variance. </a:t>
            </a:r>
          </a:p>
          <a:p>
            <a:endParaRPr lang="en-US" sz="1400" b="1" dirty="0"/>
          </a:p>
          <a:p>
            <a:r>
              <a:rPr lang="en-US" sz="1400" b="1" dirty="0"/>
              <a:t>Feature Selection from High-Dimensional Data</a:t>
            </a:r>
            <a:r>
              <a:rPr lang="en-US" sz="1400" dirty="0"/>
              <a:t> — Researched key column identification and dependency mapping out of hundreds of columns in the Synapse dataset; studied feature importance, identified unimportant columns, and analyzed the impact of feature variance and data skew on model performance degradation. </a:t>
            </a:r>
          </a:p>
          <a:p>
            <a:endParaRPr lang="en-US" sz="1400" b="1" dirty="0"/>
          </a:p>
          <a:p>
            <a:r>
              <a:rPr lang="en-US" sz="1400" b="1" dirty="0"/>
              <a:t>Initial Algorithm Scoping: ML vs LLMs</a:t>
            </a:r>
            <a:r>
              <a:rPr lang="en-US" sz="1400" dirty="0"/>
              <a:t> — Before converging on gradient-boosted trees, evaluated whether LLM-based approaches or classical ML were the right fit for SLA duration prediction on structured tabular data. Classical ML chosen for tabular </a:t>
            </a:r>
            <a:r>
              <a:rPr lang="en-US" sz="1400" dirty="0" err="1"/>
              <a:t>numeric+categorical</a:t>
            </a:r>
            <a:r>
              <a:rPr lang="en-US" sz="1400" dirty="0"/>
              <a:t> mix. </a:t>
            </a:r>
          </a:p>
          <a:p>
            <a:endParaRPr lang="en-US" sz="1400" b="1" dirty="0"/>
          </a:p>
          <a:p>
            <a:r>
              <a:rPr lang="en-US" sz="1400" b="1" dirty="0"/>
              <a:t>Prediction Clustering Root Cause Analysis</a:t>
            </a:r>
            <a:r>
              <a:rPr lang="en-US" sz="1400" dirty="0"/>
              <a:t> — Investigated why all model predictions collapsed into a narrow 4–6 minute range; traced to feature variance issues and data skew; resolved through successive dataset refinement and feature engineering corrections.</a:t>
            </a:r>
          </a:p>
        </p:txBody>
      </p:sp>
      <p:sp>
        <p:nvSpPr>
          <p:cNvPr id="6" name="TextBox 5">
            <a:extLst>
              <a:ext uri="{FF2B5EF4-FFF2-40B4-BE49-F238E27FC236}">
                <a16:creationId xmlns:a16="http://schemas.microsoft.com/office/drawing/2014/main" id="{2A8B60C2-6DF3-4FF3-35C2-9F24550B4005}"/>
              </a:ext>
            </a:extLst>
          </p:cNvPr>
          <p:cNvSpPr txBox="1"/>
          <p:nvPr/>
        </p:nvSpPr>
        <p:spPr>
          <a:xfrm>
            <a:off x="245533" y="67733"/>
            <a:ext cx="2514240" cy="461665"/>
          </a:xfrm>
          <a:prstGeom prst="rect">
            <a:avLst/>
          </a:prstGeom>
          <a:noFill/>
        </p:spPr>
        <p:txBody>
          <a:bodyPr wrap="square">
            <a:spAutoFit/>
          </a:bodyPr>
          <a:lstStyle/>
          <a:p>
            <a:r>
              <a:rPr lang="en-US" sz="2400" b="1" u="sng" dirty="0"/>
              <a:t>Activities done</a:t>
            </a:r>
            <a:endParaRPr lang="en-US" sz="1100" u="sng" dirty="0"/>
          </a:p>
        </p:txBody>
      </p:sp>
    </p:spTree>
    <p:extLst>
      <p:ext uri="{BB962C8B-B14F-4D97-AF65-F5344CB8AC3E}">
        <p14:creationId xmlns:p14="http://schemas.microsoft.com/office/powerpoint/2010/main" val="2526885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C09D69-031D-4F61-FC14-BE634B6D2CCB}"/>
              </a:ext>
            </a:extLst>
          </p:cNvPr>
          <p:cNvSpPr txBox="1"/>
          <p:nvPr/>
        </p:nvSpPr>
        <p:spPr>
          <a:xfrm>
            <a:off x="402172" y="163694"/>
            <a:ext cx="4733354" cy="369332"/>
          </a:xfrm>
          <a:prstGeom prst="rect">
            <a:avLst/>
          </a:prstGeom>
          <a:noFill/>
        </p:spPr>
        <p:txBody>
          <a:bodyPr wrap="square">
            <a:spAutoFit/>
          </a:bodyPr>
          <a:lstStyle/>
          <a:p>
            <a:r>
              <a:rPr lang="en-US" b="1" dirty="0"/>
              <a:t>SCOPE</a:t>
            </a:r>
            <a:endParaRPr lang="en-US" b="1" dirty="0">
              <a:solidFill>
                <a:srgbClr val="EE0000"/>
              </a:solidFill>
            </a:endParaRPr>
          </a:p>
        </p:txBody>
      </p:sp>
      <p:sp>
        <p:nvSpPr>
          <p:cNvPr id="4" name="TextBox 3">
            <a:extLst>
              <a:ext uri="{FF2B5EF4-FFF2-40B4-BE49-F238E27FC236}">
                <a16:creationId xmlns:a16="http://schemas.microsoft.com/office/drawing/2014/main" id="{27F3314D-95BA-A5FD-6E19-062FB5CE53FF}"/>
              </a:ext>
            </a:extLst>
          </p:cNvPr>
          <p:cNvSpPr txBox="1"/>
          <p:nvPr/>
        </p:nvSpPr>
        <p:spPr>
          <a:xfrm>
            <a:off x="1156138" y="1228975"/>
            <a:ext cx="8229600" cy="646331"/>
          </a:xfrm>
          <a:prstGeom prst="rect">
            <a:avLst/>
          </a:prstGeom>
          <a:noFill/>
        </p:spPr>
        <p:txBody>
          <a:bodyPr wrap="square">
            <a:spAutoFit/>
          </a:bodyPr>
          <a:lstStyle/>
          <a:p>
            <a:r>
              <a:rPr lang="en-US" sz="1800" dirty="0"/>
              <a:t>Predict the duration required to close a newly opened case for Cosmic Case SLA, using Machine Learning Algorithm</a:t>
            </a:r>
            <a:endParaRPr lang="en-US" dirty="0"/>
          </a:p>
        </p:txBody>
      </p:sp>
    </p:spTree>
    <p:extLst>
      <p:ext uri="{BB962C8B-B14F-4D97-AF65-F5344CB8AC3E}">
        <p14:creationId xmlns:p14="http://schemas.microsoft.com/office/powerpoint/2010/main" val="754175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F69E4-F4EF-735B-40C1-4A9861A131C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C3E81F9-E203-B06D-F9BF-A88AFD37286C}"/>
              </a:ext>
            </a:extLst>
          </p:cNvPr>
          <p:cNvSpPr txBox="1"/>
          <p:nvPr/>
        </p:nvSpPr>
        <p:spPr>
          <a:xfrm>
            <a:off x="529637" y="680422"/>
            <a:ext cx="2251664" cy="984885"/>
          </a:xfrm>
          <a:prstGeom prst="rect">
            <a:avLst/>
          </a:prstGeom>
          <a:solidFill>
            <a:schemeClr val="tx1"/>
          </a:solidFill>
          <a:ln>
            <a:solidFill>
              <a:schemeClr val="accent1">
                <a:lumMod val="75000"/>
              </a:schemeClr>
            </a:solidFill>
          </a:ln>
        </p:spPr>
        <p:txBody>
          <a:bodyPr wrap="square">
            <a:spAutoFit/>
          </a:bodyPr>
          <a:lstStyle/>
          <a:p>
            <a:pPr algn="ctr"/>
            <a:r>
              <a:rPr lang="en-US" sz="3200" dirty="0">
                <a:solidFill>
                  <a:srgbClr val="FFC000"/>
                </a:solidFill>
              </a:rPr>
              <a:t>405107</a:t>
            </a:r>
            <a:endParaRPr lang="en-US" sz="3600" dirty="0">
              <a:solidFill>
                <a:srgbClr val="FFC000"/>
              </a:solidFill>
            </a:endParaRPr>
          </a:p>
          <a:p>
            <a:pPr algn="ctr"/>
            <a:r>
              <a:rPr lang="en-US" sz="1600" b="1" dirty="0">
                <a:solidFill>
                  <a:schemeClr val="bg1"/>
                </a:solidFill>
              </a:rPr>
              <a:t>Number of records</a:t>
            </a:r>
          </a:p>
          <a:p>
            <a:pPr algn="ctr"/>
            <a:r>
              <a:rPr lang="en-US" sz="1000" b="1" dirty="0">
                <a:solidFill>
                  <a:schemeClr val="bg1"/>
                </a:solidFill>
              </a:rPr>
              <a:t>Data from 2025 through  Feb26</a:t>
            </a:r>
            <a:endParaRPr lang="en-US" sz="1600" b="1" dirty="0">
              <a:solidFill>
                <a:schemeClr val="bg1"/>
              </a:solidFill>
            </a:endParaRPr>
          </a:p>
        </p:txBody>
      </p:sp>
      <p:sp>
        <p:nvSpPr>
          <p:cNvPr id="11" name="TextBox 10">
            <a:extLst>
              <a:ext uri="{FF2B5EF4-FFF2-40B4-BE49-F238E27FC236}">
                <a16:creationId xmlns:a16="http://schemas.microsoft.com/office/drawing/2014/main" id="{B105ACD9-9BDD-B3A5-EC48-1A946AED735B}"/>
              </a:ext>
            </a:extLst>
          </p:cNvPr>
          <p:cNvSpPr txBox="1"/>
          <p:nvPr/>
        </p:nvSpPr>
        <p:spPr>
          <a:xfrm>
            <a:off x="683242" y="1853964"/>
            <a:ext cx="3537506" cy="4724370"/>
          </a:xfrm>
          <a:prstGeom prst="rect">
            <a:avLst/>
          </a:prstGeom>
          <a:noFill/>
        </p:spPr>
        <p:txBody>
          <a:bodyPr wrap="square">
            <a:spAutoFit/>
          </a:bodyPr>
          <a:lstStyle>
            <a:defPPr>
              <a:defRPr lang="en-US"/>
            </a:defPPr>
            <a:lvl1pPr>
              <a:defRPr b="1">
                <a:latin typeface="Courier New" panose="02070309020205020404" pitchFamily="49" charset="0"/>
              </a:defRPr>
            </a:lvl1pPr>
          </a:lstStyle>
          <a:p>
            <a:r>
              <a:rPr lang="en-US" dirty="0">
                <a:latin typeface="+mn-lt"/>
              </a:rPr>
              <a:t>Features Considered for Model Training</a:t>
            </a:r>
          </a:p>
          <a:p>
            <a:endParaRPr lang="en-US" sz="800" u="sng" dirty="0">
              <a:latin typeface="+mn-lt"/>
            </a:endParaRPr>
          </a:p>
          <a:p>
            <a:r>
              <a:rPr lang="en-US" sz="1600" u="sng" dirty="0">
                <a:latin typeface="+mn-lt"/>
              </a:rPr>
              <a:t>Features from Dataset</a:t>
            </a:r>
          </a:p>
          <a:p>
            <a:pPr marL="342900" indent="-342900">
              <a:buFont typeface="+mj-lt"/>
              <a:buAutoNum type="arabicPeriod"/>
            </a:pPr>
            <a:r>
              <a:rPr lang="en-US" sz="1400" dirty="0">
                <a:latin typeface="+mn-lt"/>
              </a:rPr>
              <a:t>Createdon</a:t>
            </a:r>
          </a:p>
          <a:p>
            <a:pPr marL="342900" indent="-342900">
              <a:buFont typeface="+mj-lt"/>
              <a:buAutoNum type="arabicPeriod"/>
            </a:pPr>
            <a:r>
              <a:rPr lang="en-US" sz="1400" dirty="0">
                <a:latin typeface="+mn-lt"/>
              </a:rPr>
              <a:t>Resolvedon</a:t>
            </a:r>
          </a:p>
          <a:p>
            <a:pPr marL="342900" indent="-342900">
              <a:buFont typeface="+mj-lt"/>
              <a:buAutoNum type="arabicPeriod"/>
            </a:pPr>
            <a:r>
              <a:rPr lang="en-US" sz="1400" dirty="0">
                <a:latin typeface="+mn-lt"/>
              </a:rPr>
              <a:t>msdyn_caserocname</a:t>
            </a:r>
          </a:p>
          <a:p>
            <a:pPr marL="342900" indent="-342900">
              <a:buFont typeface="+mj-lt"/>
              <a:buAutoNum type="arabicPeriod"/>
            </a:pPr>
            <a:r>
              <a:rPr lang="en-US" sz="1400" dirty="0">
                <a:latin typeface="+mn-lt"/>
              </a:rPr>
              <a:t>msdyn_businessfunctionidname</a:t>
            </a:r>
          </a:p>
          <a:p>
            <a:pPr marL="342900" indent="-342900">
              <a:buFont typeface="+mj-lt"/>
              <a:buAutoNum type="arabicPeriod"/>
            </a:pPr>
            <a:r>
              <a:rPr lang="en-US" sz="1400" dirty="0">
                <a:latin typeface="+mn-lt"/>
              </a:rPr>
              <a:t>msdyn_lineofbusinessidname</a:t>
            </a:r>
          </a:p>
          <a:p>
            <a:pPr marL="342900" indent="-342900">
              <a:buFont typeface="+mj-lt"/>
              <a:buAutoNum type="arabicPeriod"/>
            </a:pPr>
            <a:r>
              <a:rPr lang="en-US" sz="1400" dirty="0">
                <a:latin typeface="+mn-lt"/>
              </a:rPr>
              <a:t>msdyn_programidname</a:t>
            </a:r>
          </a:p>
          <a:p>
            <a:pPr marL="342900" indent="-342900">
              <a:buFont typeface="+mj-lt"/>
              <a:buAutoNum type="arabicPeriod"/>
            </a:pPr>
            <a:r>
              <a:rPr lang="en-US" sz="1400" dirty="0">
                <a:latin typeface="+mn-lt"/>
              </a:rPr>
              <a:t>msdyn_casetypeidname</a:t>
            </a:r>
          </a:p>
          <a:p>
            <a:pPr marL="342900" indent="-342900">
              <a:buFont typeface="+mj-lt"/>
              <a:buAutoNum type="arabicPeriod"/>
            </a:pPr>
            <a:r>
              <a:rPr lang="en-US" sz="1400" dirty="0">
                <a:latin typeface="+mn-lt"/>
              </a:rPr>
              <a:t>msdyn_casesubtypeidname</a:t>
            </a:r>
          </a:p>
          <a:p>
            <a:pPr marL="342900" indent="-342900">
              <a:buFont typeface="+mj-lt"/>
              <a:buAutoNum type="arabicPeriod"/>
            </a:pPr>
            <a:r>
              <a:rPr lang="en-US" sz="1400" dirty="0">
                <a:latin typeface="+mn-lt"/>
              </a:rPr>
              <a:t>msdyn_casereasonidname</a:t>
            </a:r>
          </a:p>
          <a:p>
            <a:pPr marL="342900" indent="-342900">
              <a:buFont typeface="+mj-lt"/>
              <a:buAutoNum type="arabicPeriod"/>
            </a:pPr>
            <a:r>
              <a:rPr lang="en-US" sz="1400" dirty="0">
                <a:latin typeface="+mn-lt"/>
              </a:rPr>
              <a:t>msdyn_casesubreasonidname</a:t>
            </a:r>
          </a:p>
          <a:p>
            <a:pPr marL="342900" indent="-342900">
              <a:buFont typeface="+mj-lt"/>
              <a:buAutoNum type="arabicPeriod"/>
            </a:pPr>
            <a:r>
              <a:rPr lang="en-US" sz="1400" dirty="0">
                <a:latin typeface="+mn-lt"/>
              </a:rPr>
              <a:t>msdyn_countrysubmitteridname</a:t>
            </a:r>
          </a:p>
          <a:p>
            <a:pPr marL="342900" indent="-342900">
              <a:buFont typeface="+mj-lt"/>
              <a:buAutoNum type="arabicPeriod"/>
            </a:pPr>
            <a:endParaRPr lang="en-US" sz="1400" dirty="0">
              <a:latin typeface="+mn-lt"/>
            </a:endParaRPr>
          </a:p>
          <a:p>
            <a:r>
              <a:rPr lang="en-US" sz="1600" u="sng" dirty="0">
                <a:latin typeface="+mn-lt"/>
              </a:rPr>
              <a:t>Derived Features</a:t>
            </a:r>
            <a:endParaRPr lang="en-US" sz="1400" u="sng" dirty="0">
              <a:latin typeface="+mn-lt"/>
            </a:endParaRPr>
          </a:p>
          <a:p>
            <a:pPr marL="342900" indent="-342900">
              <a:buFont typeface="+mj-lt"/>
              <a:buAutoNum type="arabicPeriod"/>
            </a:pPr>
            <a:r>
              <a:rPr lang="en-US" sz="1400" dirty="0">
                <a:latin typeface="+mn-lt"/>
              </a:rPr>
              <a:t>Duration </a:t>
            </a:r>
          </a:p>
          <a:p>
            <a:pPr marL="342900" indent="-342900">
              <a:buFont typeface="+mj-lt"/>
              <a:buAutoNum type="arabicPeriod"/>
            </a:pPr>
            <a:r>
              <a:rPr lang="en-US" sz="1400" dirty="0">
                <a:latin typeface="+mn-lt"/>
              </a:rPr>
              <a:t>Day of the week</a:t>
            </a:r>
          </a:p>
          <a:p>
            <a:pPr marL="342900" indent="-342900">
              <a:buFont typeface="+mj-lt"/>
              <a:buAutoNum type="arabicPeriod"/>
            </a:pPr>
            <a:r>
              <a:rPr lang="en-US" sz="1400" dirty="0">
                <a:latin typeface="+mn-lt"/>
              </a:rPr>
              <a:t>Volume per day</a:t>
            </a:r>
          </a:p>
          <a:p>
            <a:pPr marL="342900" indent="-342900">
              <a:buFont typeface="+mj-lt"/>
              <a:buAutoNum type="arabicPeriod"/>
            </a:pPr>
            <a:r>
              <a:rPr lang="en-US" sz="1400" dirty="0">
                <a:latin typeface="+mn-lt"/>
              </a:rPr>
              <a:t>Reason_median_speed</a:t>
            </a:r>
          </a:p>
        </p:txBody>
      </p:sp>
      <p:sp>
        <p:nvSpPr>
          <p:cNvPr id="21" name="TextBox 20">
            <a:extLst>
              <a:ext uri="{FF2B5EF4-FFF2-40B4-BE49-F238E27FC236}">
                <a16:creationId xmlns:a16="http://schemas.microsoft.com/office/drawing/2014/main" id="{77B4A7BF-F08A-C96F-E988-C3CBAAADFA4B}"/>
              </a:ext>
            </a:extLst>
          </p:cNvPr>
          <p:cNvSpPr txBox="1"/>
          <p:nvPr/>
        </p:nvSpPr>
        <p:spPr>
          <a:xfrm>
            <a:off x="402172" y="79611"/>
            <a:ext cx="4733354" cy="369332"/>
          </a:xfrm>
          <a:prstGeom prst="rect">
            <a:avLst/>
          </a:prstGeom>
          <a:noFill/>
        </p:spPr>
        <p:txBody>
          <a:bodyPr wrap="square">
            <a:spAutoFit/>
          </a:bodyPr>
          <a:lstStyle/>
          <a:p>
            <a:r>
              <a:rPr lang="en-US" b="1" dirty="0"/>
              <a:t>INPUT DATASET</a:t>
            </a:r>
          </a:p>
        </p:txBody>
      </p:sp>
      <p:pic>
        <p:nvPicPr>
          <p:cNvPr id="22" name="Picture 21">
            <a:extLst>
              <a:ext uri="{FF2B5EF4-FFF2-40B4-BE49-F238E27FC236}">
                <a16:creationId xmlns:a16="http://schemas.microsoft.com/office/drawing/2014/main" id="{8B6AC28F-05BF-899E-A8DF-DE0BB408A13B}"/>
              </a:ext>
            </a:extLst>
          </p:cNvPr>
          <p:cNvPicPr>
            <a:picLocks noChangeAspect="1"/>
          </p:cNvPicPr>
          <p:nvPr/>
        </p:nvPicPr>
        <p:blipFill>
          <a:blip r:embed="rId2"/>
          <a:stretch>
            <a:fillRect/>
          </a:stretch>
        </p:blipFill>
        <p:spPr>
          <a:xfrm>
            <a:off x="10340829" y="323556"/>
            <a:ext cx="1553729" cy="387644"/>
          </a:xfrm>
          <a:prstGeom prst="rect">
            <a:avLst/>
          </a:prstGeom>
        </p:spPr>
      </p:pic>
      <p:sp>
        <p:nvSpPr>
          <p:cNvPr id="14" name="TextBox 13">
            <a:extLst>
              <a:ext uri="{FF2B5EF4-FFF2-40B4-BE49-F238E27FC236}">
                <a16:creationId xmlns:a16="http://schemas.microsoft.com/office/drawing/2014/main" id="{A3305BDC-12E6-96C0-1DF9-6E2F5A745D1D}"/>
              </a:ext>
            </a:extLst>
          </p:cNvPr>
          <p:cNvSpPr txBox="1"/>
          <p:nvPr/>
        </p:nvSpPr>
        <p:spPr>
          <a:xfrm>
            <a:off x="5527488" y="5680277"/>
            <a:ext cx="5267426" cy="523220"/>
          </a:xfrm>
          <a:prstGeom prst="rect">
            <a:avLst/>
          </a:prstGeom>
          <a:noFill/>
        </p:spPr>
        <p:txBody>
          <a:bodyPr wrap="square">
            <a:spAutoFit/>
          </a:bodyPr>
          <a:lstStyle/>
          <a:p>
            <a:r>
              <a:rPr lang="en-US" sz="1400" b="1" dirty="0"/>
              <a:t>Records considered for training = 338087 (less than 30day)</a:t>
            </a:r>
          </a:p>
          <a:p>
            <a:r>
              <a:rPr lang="en-US" sz="1400" b="1" dirty="0"/>
              <a:t>Longest closure time was up to 250+ days</a:t>
            </a:r>
          </a:p>
        </p:txBody>
      </p:sp>
      <p:grpSp>
        <p:nvGrpSpPr>
          <p:cNvPr id="17" name="Group 16">
            <a:extLst>
              <a:ext uri="{FF2B5EF4-FFF2-40B4-BE49-F238E27FC236}">
                <a16:creationId xmlns:a16="http://schemas.microsoft.com/office/drawing/2014/main" id="{E02B4657-492C-7F1D-2E70-4DB945E10E48}"/>
              </a:ext>
            </a:extLst>
          </p:cNvPr>
          <p:cNvGrpSpPr/>
          <p:nvPr/>
        </p:nvGrpSpPr>
        <p:grpSpPr>
          <a:xfrm>
            <a:off x="5492339" y="1696085"/>
            <a:ext cx="4629401" cy="3195398"/>
            <a:chOff x="5492339" y="1696085"/>
            <a:chExt cx="4629401" cy="3195398"/>
          </a:xfrm>
        </p:grpSpPr>
        <p:pic>
          <p:nvPicPr>
            <p:cNvPr id="8" name="Picture 7">
              <a:extLst>
                <a:ext uri="{FF2B5EF4-FFF2-40B4-BE49-F238E27FC236}">
                  <a16:creationId xmlns:a16="http://schemas.microsoft.com/office/drawing/2014/main" id="{905A0155-A0A0-5A7C-8CBB-6DFC095A8695}"/>
                </a:ext>
              </a:extLst>
            </p:cNvPr>
            <p:cNvPicPr>
              <a:picLocks noChangeAspect="1"/>
            </p:cNvPicPr>
            <p:nvPr/>
          </p:nvPicPr>
          <p:blipFill>
            <a:blip r:embed="rId3"/>
            <a:stretch>
              <a:fillRect/>
            </a:stretch>
          </p:blipFill>
          <p:spPr>
            <a:xfrm>
              <a:off x="5492339" y="1696085"/>
              <a:ext cx="4629401" cy="3195398"/>
            </a:xfrm>
            <a:prstGeom prst="rect">
              <a:avLst/>
            </a:prstGeom>
          </p:spPr>
        </p:pic>
        <p:pic>
          <p:nvPicPr>
            <p:cNvPr id="16" name="Picture 15">
              <a:extLst>
                <a:ext uri="{FF2B5EF4-FFF2-40B4-BE49-F238E27FC236}">
                  <a16:creationId xmlns:a16="http://schemas.microsoft.com/office/drawing/2014/main" id="{D81F7CB3-9855-22E0-7DE6-4D7B136F8FB8}"/>
                </a:ext>
              </a:extLst>
            </p:cNvPr>
            <p:cNvPicPr>
              <a:picLocks noChangeAspect="1"/>
            </p:cNvPicPr>
            <p:nvPr/>
          </p:nvPicPr>
          <p:blipFill>
            <a:blip r:embed="rId4"/>
            <a:stretch>
              <a:fillRect/>
            </a:stretch>
          </p:blipFill>
          <p:spPr>
            <a:xfrm>
              <a:off x="5678399" y="4276222"/>
              <a:ext cx="544601" cy="327579"/>
            </a:xfrm>
            <a:prstGeom prst="rect">
              <a:avLst/>
            </a:prstGeom>
          </p:spPr>
        </p:pic>
      </p:grpSp>
    </p:spTree>
    <p:extLst>
      <p:ext uri="{BB962C8B-B14F-4D97-AF65-F5344CB8AC3E}">
        <p14:creationId xmlns:p14="http://schemas.microsoft.com/office/powerpoint/2010/main" val="2521491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81862F-5FBC-0528-655C-14B1F3FAA9A0}"/>
              </a:ext>
            </a:extLst>
          </p:cNvPr>
          <p:cNvSpPr txBox="1"/>
          <p:nvPr/>
        </p:nvSpPr>
        <p:spPr>
          <a:xfrm>
            <a:off x="405381" y="702471"/>
            <a:ext cx="3617980" cy="4031873"/>
          </a:xfrm>
          <a:prstGeom prst="rect">
            <a:avLst/>
          </a:prstGeom>
          <a:noFill/>
        </p:spPr>
        <p:txBody>
          <a:bodyPr wrap="square">
            <a:spAutoFit/>
          </a:bodyPr>
          <a:lstStyle/>
          <a:p>
            <a:endParaRPr lang="en-US" b="1" dirty="0"/>
          </a:p>
          <a:p>
            <a:pPr marL="800100" lvl="1" indent="-342900">
              <a:buAutoNum type="arabicPeriod"/>
            </a:pPr>
            <a:r>
              <a:rPr lang="en-US" sz="1400" b="1" dirty="0"/>
              <a:t>Dataset Preparation</a:t>
            </a:r>
          </a:p>
          <a:p>
            <a:pPr marL="800100" lvl="1" indent="-342900">
              <a:buAutoNum type="arabicPeriod"/>
            </a:pPr>
            <a:endParaRPr lang="en-US" sz="1400" b="1" dirty="0"/>
          </a:p>
          <a:p>
            <a:pPr marL="800100" lvl="1" indent="-342900">
              <a:buAutoNum type="arabicPeriod"/>
            </a:pPr>
            <a:r>
              <a:rPr lang="en-US" sz="1400" b="1" dirty="0"/>
              <a:t>Exploratory data analysis</a:t>
            </a:r>
          </a:p>
          <a:p>
            <a:pPr marL="800100" lvl="1" indent="-342900">
              <a:buAutoNum type="arabicPeriod"/>
            </a:pPr>
            <a:endParaRPr lang="en-US" sz="1400" b="1" dirty="0"/>
          </a:p>
          <a:p>
            <a:pPr marL="800100" lvl="1" indent="-342900">
              <a:buAutoNum type="arabicPeriod"/>
            </a:pPr>
            <a:r>
              <a:rPr lang="en-US" sz="1400" b="1" dirty="0"/>
              <a:t>Feature Engineering</a:t>
            </a:r>
          </a:p>
          <a:p>
            <a:pPr marL="800100" lvl="1" indent="-342900">
              <a:buAutoNum type="arabicPeriod"/>
            </a:pPr>
            <a:endParaRPr lang="en-US" sz="1400" b="1" dirty="0"/>
          </a:p>
          <a:p>
            <a:pPr marL="800100" lvl="1" indent="-342900">
              <a:buAutoNum type="arabicPeriod"/>
            </a:pPr>
            <a:r>
              <a:rPr lang="en-US" sz="1400" b="1" dirty="0"/>
              <a:t>Model Selection</a:t>
            </a:r>
          </a:p>
          <a:p>
            <a:pPr marL="800100" lvl="1" indent="-342900">
              <a:buAutoNum type="arabicPeriod"/>
            </a:pPr>
            <a:endParaRPr lang="en-US" sz="1400" b="1" dirty="0"/>
          </a:p>
          <a:p>
            <a:pPr marL="800100" lvl="1" indent="-342900">
              <a:buAutoNum type="arabicPeriod"/>
            </a:pPr>
            <a:r>
              <a:rPr lang="en-US" sz="1400" b="1" dirty="0"/>
              <a:t>Model training</a:t>
            </a:r>
          </a:p>
          <a:p>
            <a:pPr marL="800100" lvl="1" indent="-342900">
              <a:buAutoNum type="arabicPeriod"/>
            </a:pPr>
            <a:endParaRPr lang="en-US" sz="1400" b="1" dirty="0"/>
          </a:p>
          <a:p>
            <a:pPr marL="800100" lvl="1" indent="-342900">
              <a:buFontTx/>
              <a:buAutoNum type="arabicPeriod"/>
            </a:pPr>
            <a:r>
              <a:rPr lang="en-US" sz="1400" b="1" dirty="0"/>
              <a:t>Model Evaluation</a:t>
            </a:r>
          </a:p>
          <a:p>
            <a:pPr marL="800100" lvl="1" indent="-342900">
              <a:buAutoNum type="arabicPeriod"/>
            </a:pPr>
            <a:endParaRPr lang="en-US" sz="1400" b="1" dirty="0"/>
          </a:p>
          <a:p>
            <a:pPr marL="800100" lvl="1" indent="-342900">
              <a:buAutoNum type="arabicPeriod"/>
            </a:pPr>
            <a:r>
              <a:rPr lang="en-US" sz="1400" b="1" dirty="0"/>
              <a:t>Hyper parameter Tuning</a:t>
            </a:r>
          </a:p>
          <a:p>
            <a:pPr marL="800100" lvl="1" indent="-342900">
              <a:buAutoNum type="arabicPeriod"/>
            </a:pPr>
            <a:endParaRPr lang="en-US" sz="1400" b="1" dirty="0"/>
          </a:p>
          <a:p>
            <a:pPr marL="800100" lvl="1" indent="-342900">
              <a:buAutoNum type="arabicPeriod"/>
            </a:pPr>
            <a:r>
              <a:rPr lang="en-US" sz="1400" b="1" dirty="0"/>
              <a:t>Model Deployment</a:t>
            </a:r>
          </a:p>
          <a:p>
            <a:pPr marL="800100" lvl="1" indent="-342900">
              <a:buAutoNum type="arabicPeriod"/>
            </a:pPr>
            <a:endParaRPr lang="en-US" sz="1400" b="1" dirty="0"/>
          </a:p>
          <a:p>
            <a:pPr marL="800100" lvl="1" indent="-342900">
              <a:buAutoNum type="arabicPeriod"/>
            </a:pPr>
            <a:r>
              <a:rPr lang="en-US" sz="1400" b="1" dirty="0"/>
              <a:t>Inference and Predictions</a:t>
            </a:r>
            <a:endParaRPr lang="en-US" sz="1400" dirty="0"/>
          </a:p>
        </p:txBody>
      </p:sp>
      <p:sp>
        <p:nvSpPr>
          <p:cNvPr id="3" name="TextBox 2">
            <a:extLst>
              <a:ext uri="{FF2B5EF4-FFF2-40B4-BE49-F238E27FC236}">
                <a16:creationId xmlns:a16="http://schemas.microsoft.com/office/drawing/2014/main" id="{CA0133BA-52CE-2DAD-DEB2-AE42F736651B}"/>
              </a:ext>
            </a:extLst>
          </p:cNvPr>
          <p:cNvSpPr txBox="1"/>
          <p:nvPr/>
        </p:nvSpPr>
        <p:spPr>
          <a:xfrm>
            <a:off x="402172" y="79611"/>
            <a:ext cx="4733354" cy="369332"/>
          </a:xfrm>
          <a:prstGeom prst="rect">
            <a:avLst/>
          </a:prstGeom>
          <a:noFill/>
        </p:spPr>
        <p:txBody>
          <a:bodyPr wrap="square">
            <a:spAutoFit/>
          </a:bodyPr>
          <a:lstStyle/>
          <a:p>
            <a:r>
              <a:rPr lang="en-US" b="1" dirty="0"/>
              <a:t>Machine Learning Process</a:t>
            </a:r>
          </a:p>
        </p:txBody>
      </p:sp>
      <p:sp>
        <p:nvSpPr>
          <p:cNvPr id="5" name="TextBox 4">
            <a:extLst>
              <a:ext uri="{FF2B5EF4-FFF2-40B4-BE49-F238E27FC236}">
                <a16:creationId xmlns:a16="http://schemas.microsoft.com/office/drawing/2014/main" id="{59308AE9-D170-C86B-3370-22A8EFA599DF}"/>
              </a:ext>
            </a:extLst>
          </p:cNvPr>
          <p:cNvSpPr txBox="1"/>
          <p:nvPr/>
        </p:nvSpPr>
        <p:spPr>
          <a:xfrm>
            <a:off x="969746" y="6145903"/>
            <a:ext cx="8636709" cy="253916"/>
          </a:xfrm>
          <a:prstGeom prst="rect">
            <a:avLst/>
          </a:prstGeom>
          <a:noFill/>
        </p:spPr>
        <p:txBody>
          <a:bodyPr wrap="square">
            <a:spAutoFit/>
          </a:bodyPr>
          <a:lstStyle/>
          <a:p>
            <a:r>
              <a:rPr lang="en-US" sz="1050" b="1" dirty="0"/>
              <a:t>1. Date range, capping 30days, handling null values, missing values | 3. log function, new features, capping 0.75, 1100 minutes</a:t>
            </a:r>
            <a:endParaRPr lang="en-US" sz="1050" dirty="0"/>
          </a:p>
        </p:txBody>
      </p:sp>
      <p:pic>
        <p:nvPicPr>
          <p:cNvPr id="21" name="Picture 20">
            <a:extLst>
              <a:ext uri="{FF2B5EF4-FFF2-40B4-BE49-F238E27FC236}">
                <a16:creationId xmlns:a16="http://schemas.microsoft.com/office/drawing/2014/main" id="{1CCA3BDD-BE9D-D413-417A-254CBD53FC04}"/>
              </a:ext>
            </a:extLst>
          </p:cNvPr>
          <p:cNvPicPr>
            <a:picLocks noChangeAspect="1"/>
          </p:cNvPicPr>
          <p:nvPr/>
        </p:nvPicPr>
        <p:blipFill>
          <a:blip r:embed="rId2"/>
          <a:stretch>
            <a:fillRect/>
          </a:stretch>
        </p:blipFill>
        <p:spPr>
          <a:xfrm>
            <a:off x="5904127" y="1105312"/>
            <a:ext cx="3389953" cy="3320383"/>
          </a:xfrm>
          <a:prstGeom prst="rect">
            <a:avLst/>
          </a:prstGeom>
        </p:spPr>
      </p:pic>
    </p:spTree>
    <p:extLst>
      <p:ext uri="{BB962C8B-B14F-4D97-AF65-F5344CB8AC3E}">
        <p14:creationId xmlns:p14="http://schemas.microsoft.com/office/powerpoint/2010/main" val="3171743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25C9AD2-0A73-C95E-F14C-EC74831BAB51}"/>
              </a:ext>
            </a:extLst>
          </p:cNvPr>
          <p:cNvPicPr>
            <a:picLocks noChangeAspect="1"/>
          </p:cNvPicPr>
          <p:nvPr/>
        </p:nvPicPr>
        <p:blipFill>
          <a:blip r:embed="rId2"/>
          <a:stretch>
            <a:fillRect/>
          </a:stretch>
        </p:blipFill>
        <p:spPr>
          <a:xfrm>
            <a:off x="586661" y="870232"/>
            <a:ext cx="5243716" cy="2558768"/>
          </a:xfrm>
          <a:prstGeom prst="rect">
            <a:avLst/>
          </a:prstGeom>
          <a:solidFill>
            <a:schemeClr val="bg1"/>
          </a:solidFill>
          <a:ln>
            <a:solidFill>
              <a:schemeClr val="accent1">
                <a:lumMod val="75000"/>
              </a:schemeClr>
            </a:solidFill>
          </a:ln>
        </p:spPr>
      </p:pic>
      <p:pic>
        <p:nvPicPr>
          <p:cNvPr id="31" name="Picture 30">
            <a:extLst>
              <a:ext uri="{FF2B5EF4-FFF2-40B4-BE49-F238E27FC236}">
                <a16:creationId xmlns:a16="http://schemas.microsoft.com/office/drawing/2014/main" id="{37E54DFF-D918-E73D-32F7-C44AC8E54609}"/>
              </a:ext>
            </a:extLst>
          </p:cNvPr>
          <p:cNvPicPr>
            <a:picLocks noChangeAspect="1"/>
          </p:cNvPicPr>
          <p:nvPr/>
        </p:nvPicPr>
        <p:blipFill>
          <a:blip r:embed="rId3"/>
          <a:stretch>
            <a:fillRect/>
          </a:stretch>
        </p:blipFill>
        <p:spPr>
          <a:xfrm>
            <a:off x="586661" y="3811866"/>
            <a:ext cx="5243716" cy="2489321"/>
          </a:xfrm>
          <a:prstGeom prst="rect">
            <a:avLst/>
          </a:prstGeom>
          <a:solidFill>
            <a:schemeClr val="bg1"/>
          </a:solidFill>
          <a:ln>
            <a:solidFill>
              <a:schemeClr val="accent1">
                <a:lumMod val="75000"/>
              </a:schemeClr>
            </a:solidFill>
          </a:ln>
        </p:spPr>
      </p:pic>
      <p:sp>
        <p:nvSpPr>
          <p:cNvPr id="4" name="TextBox 3">
            <a:extLst>
              <a:ext uri="{FF2B5EF4-FFF2-40B4-BE49-F238E27FC236}">
                <a16:creationId xmlns:a16="http://schemas.microsoft.com/office/drawing/2014/main" id="{723DFE0B-EF8D-C55D-A131-0A57C80AFDC7}"/>
              </a:ext>
            </a:extLst>
          </p:cNvPr>
          <p:cNvSpPr txBox="1"/>
          <p:nvPr/>
        </p:nvSpPr>
        <p:spPr>
          <a:xfrm>
            <a:off x="488482" y="619405"/>
            <a:ext cx="2460140" cy="307777"/>
          </a:xfrm>
          <a:prstGeom prst="rect">
            <a:avLst/>
          </a:prstGeom>
          <a:noFill/>
        </p:spPr>
        <p:txBody>
          <a:bodyPr wrap="square">
            <a:spAutoFit/>
          </a:bodyPr>
          <a:lstStyle/>
          <a:p>
            <a:r>
              <a:rPr lang="en-US" sz="1400" b="1" dirty="0"/>
              <a:t>Categories in each Feature</a:t>
            </a:r>
          </a:p>
        </p:txBody>
      </p:sp>
      <p:sp>
        <p:nvSpPr>
          <p:cNvPr id="5" name="TextBox 4">
            <a:extLst>
              <a:ext uri="{FF2B5EF4-FFF2-40B4-BE49-F238E27FC236}">
                <a16:creationId xmlns:a16="http://schemas.microsoft.com/office/drawing/2014/main" id="{5025C909-C27A-BA9F-A3C8-D442DB9A6D5D}"/>
              </a:ext>
            </a:extLst>
          </p:cNvPr>
          <p:cNvSpPr txBox="1"/>
          <p:nvPr/>
        </p:nvSpPr>
        <p:spPr>
          <a:xfrm>
            <a:off x="498007" y="3551415"/>
            <a:ext cx="2091293" cy="307777"/>
          </a:xfrm>
          <a:prstGeom prst="rect">
            <a:avLst/>
          </a:prstGeom>
          <a:noFill/>
        </p:spPr>
        <p:txBody>
          <a:bodyPr wrap="square">
            <a:spAutoFit/>
          </a:bodyPr>
          <a:lstStyle/>
          <a:p>
            <a:r>
              <a:rPr lang="en-US" sz="1400" b="1" dirty="0"/>
              <a:t>Features Importance</a:t>
            </a:r>
          </a:p>
        </p:txBody>
      </p:sp>
      <p:sp>
        <p:nvSpPr>
          <p:cNvPr id="3" name="TextBox 2">
            <a:extLst>
              <a:ext uri="{FF2B5EF4-FFF2-40B4-BE49-F238E27FC236}">
                <a16:creationId xmlns:a16="http://schemas.microsoft.com/office/drawing/2014/main" id="{4928740C-A981-04F0-4AA9-B493BF9207A5}"/>
              </a:ext>
            </a:extLst>
          </p:cNvPr>
          <p:cNvSpPr txBox="1"/>
          <p:nvPr/>
        </p:nvSpPr>
        <p:spPr>
          <a:xfrm>
            <a:off x="267100" y="137786"/>
            <a:ext cx="6097604" cy="369332"/>
          </a:xfrm>
          <a:prstGeom prst="rect">
            <a:avLst/>
          </a:prstGeom>
          <a:noFill/>
        </p:spPr>
        <p:txBody>
          <a:bodyPr wrap="square">
            <a:spAutoFit/>
          </a:bodyPr>
          <a:lstStyle/>
          <a:p>
            <a:r>
              <a:rPr lang="en-US" b="1" dirty="0"/>
              <a:t>Exploratory Data Analysis</a:t>
            </a:r>
            <a:endParaRPr lang="en-US" dirty="0"/>
          </a:p>
        </p:txBody>
      </p:sp>
      <p:pic>
        <p:nvPicPr>
          <p:cNvPr id="16" name="Picture 15">
            <a:extLst>
              <a:ext uri="{FF2B5EF4-FFF2-40B4-BE49-F238E27FC236}">
                <a16:creationId xmlns:a16="http://schemas.microsoft.com/office/drawing/2014/main" id="{3DF21500-C11A-3A39-6F27-83CE633521A8}"/>
              </a:ext>
            </a:extLst>
          </p:cNvPr>
          <p:cNvPicPr>
            <a:picLocks noChangeAspect="1"/>
          </p:cNvPicPr>
          <p:nvPr/>
        </p:nvPicPr>
        <p:blipFill>
          <a:blip r:embed="rId4"/>
          <a:stretch>
            <a:fillRect/>
          </a:stretch>
        </p:blipFill>
        <p:spPr>
          <a:xfrm>
            <a:off x="6341781" y="873428"/>
            <a:ext cx="5054531" cy="2557296"/>
          </a:xfrm>
          <a:prstGeom prst="rect">
            <a:avLst/>
          </a:prstGeom>
          <a:ln>
            <a:solidFill>
              <a:schemeClr val="accent1">
                <a:lumMod val="75000"/>
              </a:schemeClr>
            </a:solidFill>
          </a:ln>
        </p:spPr>
      </p:pic>
      <p:pic>
        <p:nvPicPr>
          <p:cNvPr id="17" name="Picture 16">
            <a:extLst>
              <a:ext uri="{FF2B5EF4-FFF2-40B4-BE49-F238E27FC236}">
                <a16:creationId xmlns:a16="http://schemas.microsoft.com/office/drawing/2014/main" id="{3F47A50C-A8D4-DD95-743E-61783011AF79}"/>
              </a:ext>
            </a:extLst>
          </p:cNvPr>
          <p:cNvPicPr>
            <a:picLocks noChangeAspect="1"/>
          </p:cNvPicPr>
          <p:nvPr/>
        </p:nvPicPr>
        <p:blipFill>
          <a:blip r:embed="rId5"/>
          <a:stretch>
            <a:fillRect/>
          </a:stretch>
        </p:blipFill>
        <p:spPr>
          <a:xfrm>
            <a:off x="6341781" y="3811866"/>
            <a:ext cx="5054531" cy="2489321"/>
          </a:xfrm>
          <a:prstGeom prst="rect">
            <a:avLst/>
          </a:prstGeom>
          <a:ln>
            <a:solidFill>
              <a:schemeClr val="accent1">
                <a:lumMod val="75000"/>
              </a:schemeClr>
            </a:solidFill>
          </a:ln>
        </p:spPr>
      </p:pic>
      <p:sp>
        <p:nvSpPr>
          <p:cNvPr id="6" name="TextBox 5">
            <a:extLst>
              <a:ext uri="{FF2B5EF4-FFF2-40B4-BE49-F238E27FC236}">
                <a16:creationId xmlns:a16="http://schemas.microsoft.com/office/drawing/2014/main" id="{BFF78D92-F0F6-C7E9-63A2-83876F646339}"/>
              </a:ext>
            </a:extLst>
          </p:cNvPr>
          <p:cNvSpPr txBox="1"/>
          <p:nvPr/>
        </p:nvSpPr>
        <p:spPr>
          <a:xfrm>
            <a:off x="6246127" y="619405"/>
            <a:ext cx="3766879" cy="307777"/>
          </a:xfrm>
          <a:prstGeom prst="rect">
            <a:avLst/>
          </a:prstGeom>
          <a:noFill/>
        </p:spPr>
        <p:txBody>
          <a:bodyPr wrap="square">
            <a:spAutoFit/>
          </a:bodyPr>
          <a:lstStyle/>
          <a:p>
            <a:r>
              <a:rPr lang="en-US" sz="1400" b="1" dirty="0"/>
              <a:t>Value Count against BusinessFunction</a:t>
            </a:r>
          </a:p>
        </p:txBody>
      </p:sp>
      <p:sp>
        <p:nvSpPr>
          <p:cNvPr id="7" name="TextBox 6">
            <a:extLst>
              <a:ext uri="{FF2B5EF4-FFF2-40B4-BE49-F238E27FC236}">
                <a16:creationId xmlns:a16="http://schemas.microsoft.com/office/drawing/2014/main" id="{AA746784-27B3-0B76-9B13-E4ADB6793650}"/>
              </a:ext>
            </a:extLst>
          </p:cNvPr>
          <p:cNvSpPr txBox="1"/>
          <p:nvPr/>
        </p:nvSpPr>
        <p:spPr>
          <a:xfrm>
            <a:off x="6246127" y="3551415"/>
            <a:ext cx="2967723" cy="307777"/>
          </a:xfrm>
          <a:prstGeom prst="rect">
            <a:avLst/>
          </a:prstGeom>
          <a:noFill/>
        </p:spPr>
        <p:txBody>
          <a:bodyPr wrap="square">
            <a:spAutoFit/>
          </a:bodyPr>
          <a:lstStyle/>
          <a:p>
            <a:r>
              <a:rPr lang="en-US" sz="1400" b="1" dirty="0"/>
              <a:t>Value Count against CaseReason</a:t>
            </a:r>
          </a:p>
        </p:txBody>
      </p:sp>
    </p:spTree>
    <p:extLst>
      <p:ext uri="{BB962C8B-B14F-4D97-AF65-F5344CB8AC3E}">
        <p14:creationId xmlns:p14="http://schemas.microsoft.com/office/powerpoint/2010/main" val="4147716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F2CBB4B-F226-5FBE-DAAA-84357E2DFE77}"/>
              </a:ext>
            </a:extLst>
          </p:cNvPr>
          <p:cNvPicPr>
            <a:picLocks noChangeAspect="1"/>
          </p:cNvPicPr>
          <p:nvPr/>
        </p:nvPicPr>
        <p:blipFill>
          <a:blip r:embed="rId2"/>
          <a:stretch>
            <a:fillRect/>
          </a:stretch>
        </p:blipFill>
        <p:spPr>
          <a:xfrm>
            <a:off x="655289" y="790775"/>
            <a:ext cx="5365918" cy="2668481"/>
          </a:xfrm>
          <a:prstGeom prst="rect">
            <a:avLst/>
          </a:prstGeom>
          <a:ln>
            <a:solidFill>
              <a:schemeClr val="accent1">
                <a:lumMod val="75000"/>
              </a:schemeClr>
            </a:solidFill>
          </a:ln>
        </p:spPr>
      </p:pic>
      <p:pic>
        <p:nvPicPr>
          <p:cNvPr id="15" name="Picture 14">
            <a:extLst>
              <a:ext uri="{FF2B5EF4-FFF2-40B4-BE49-F238E27FC236}">
                <a16:creationId xmlns:a16="http://schemas.microsoft.com/office/drawing/2014/main" id="{4D1301E3-8D15-BD11-7C14-C829F41AED9D}"/>
              </a:ext>
            </a:extLst>
          </p:cNvPr>
          <p:cNvPicPr>
            <a:picLocks noChangeAspect="1"/>
          </p:cNvPicPr>
          <p:nvPr/>
        </p:nvPicPr>
        <p:blipFill>
          <a:blip r:embed="rId3"/>
          <a:stretch>
            <a:fillRect/>
          </a:stretch>
        </p:blipFill>
        <p:spPr>
          <a:xfrm>
            <a:off x="655289" y="3863214"/>
            <a:ext cx="5365918" cy="2757995"/>
          </a:xfrm>
          <a:prstGeom prst="rect">
            <a:avLst/>
          </a:prstGeom>
          <a:ln>
            <a:solidFill>
              <a:schemeClr val="accent1">
                <a:lumMod val="75000"/>
              </a:schemeClr>
            </a:solidFill>
          </a:ln>
        </p:spPr>
      </p:pic>
      <p:sp>
        <p:nvSpPr>
          <p:cNvPr id="2" name="TextBox 1">
            <a:extLst>
              <a:ext uri="{FF2B5EF4-FFF2-40B4-BE49-F238E27FC236}">
                <a16:creationId xmlns:a16="http://schemas.microsoft.com/office/drawing/2014/main" id="{04339F2D-8D81-94A3-D1A1-49020CC06B74}"/>
              </a:ext>
            </a:extLst>
          </p:cNvPr>
          <p:cNvSpPr txBox="1"/>
          <p:nvPr/>
        </p:nvSpPr>
        <p:spPr>
          <a:xfrm>
            <a:off x="542295" y="517675"/>
            <a:ext cx="4497130" cy="307777"/>
          </a:xfrm>
          <a:prstGeom prst="rect">
            <a:avLst/>
          </a:prstGeom>
          <a:noFill/>
        </p:spPr>
        <p:txBody>
          <a:bodyPr wrap="square">
            <a:spAutoFit/>
          </a:bodyPr>
          <a:lstStyle/>
          <a:p>
            <a:r>
              <a:rPr lang="en-US" sz="1400" b="1" dirty="0"/>
              <a:t>Value counts each hour (received date)</a:t>
            </a:r>
          </a:p>
        </p:txBody>
      </p:sp>
      <p:sp>
        <p:nvSpPr>
          <p:cNvPr id="3" name="TextBox 2">
            <a:extLst>
              <a:ext uri="{FF2B5EF4-FFF2-40B4-BE49-F238E27FC236}">
                <a16:creationId xmlns:a16="http://schemas.microsoft.com/office/drawing/2014/main" id="{EC2EBFBC-4802-E1B7-36D9-621B4E7ECED6}"/>
              </a:ext>
            </a:extLst>
          </p:cNvPr>
          <p:cNvSpPr txBox="1"/>
          <p:nvPr/>
        </p:nvSpPr>
        <p:spPr>
          <a:xfrm>
            <a:off x="579452" y="3571420"/>
            <a:ext cx="4796523" cy="307777"/>
          </a:xfrm>
          <a:prstGeom prst="rect">
            <a:avLst/>
          </a:prstGeom>
          <a:noFill/>
        </p:spPr>
        <p:txBody>
          <a:bodyPr wrap="square">
            <a:spAutoFit/>
          </a:bodyPr>
          <a:lstStyle/>
          <a:p>
            <a:r>
              <a:rPr lang="en-US" sz="1400" b="1" dirty="0"/>
              <a:t>Value counts against day of the week (received date)</a:t>
            </a:r>
          </a:p>
        </p:txBody>
      </p:sp>
      <p:sp>
        <p:nvSpPr>
          <p:cNvPr id="6" name="TextBox 5">
            <a:extLst>
              <a:ext uri="{FF2B5EF4-FFF2-40B4-BE49-F238E27FC236}">
                <a16:creationId xmlns:a16="http://schemas.microsoft.com/office/drawing/2014/main" id="{E24A6F3E-3551-DA72-29FF-44E62BA548C9}"/>
              </a:ext>
            </a:extLst>
          </p:cNvPr>
          <p:cNvSpPr txBox="1"/>
          <p:nvPr/>
        </p:nvSpPr>
        <p:spPr>
          <a:xfrm>
            <a:off x="267100" y="137786"/>
            <a:ext cx="6097604" cy="369332"/>
          </a:xfrm>
          <a:prstGeom prst="rect">
            <a:avLst/>
          </a:prstGeom>
          <a:noFill/>
        </p:spPr>
        <p:txBody>
          <a:bodyPr wrap="square">
            <a:spAutoFit/>
          </a:bodyPr>
          <a:lstStyle/>
          <a:p>
            <a:r>
              <a:rPr lang="en-US" b="1" dirty="0"/>
              <a:t>Exploratory Data Analysis</a:t>
            </a:r>
            <a:endParaRPr lang="en-US" dirty="0"/>
          </a:p>
        </p:txBody>
      </p:sp>
      <p:pic>
        <p:nvPicPr>
          <p:cNvPr id="7" name="Picture 6">
            <a:extLst>
              <a:ext uri="{FF2B5EF4-FFF2-40B4-BE49-F238E27FC236}">
                <a16:creationId xmlns:a16="http://schemas.microsoft.com/office/drawing/2014/main" id="{A3528BE6-A13D-686C-4848-1F8B7DBB7E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2079" y="790775"/>
            <a:ext cx="5059349" cy="2529675"/>
          </a:xfrm>
          <a:prstGeom prst="rect">
            <a:avLst/>
          </a:prstGeom>
          <a:ln>
            <a:solidFill>
              <a:schemeClr val="accent1">
                <a:lumMod val="75000"/>
              </a:schemeClr>
            </a:solidFill>
          </a:ln>
        </p:spPr>
      </p:pic>
      <p:pic>
        <p:nvPicPr>
          <p:cNvPr id="8" name="Picture 7">
            <a:extLst>
              <a:ext uri="{FF2B5EF4-FFF2-40B4-BE49-F238E27FC236}">
                <a16:creationId xmlns:a16="http://schemas.microsoft.com/office/drawing/2014/main" id="{2DB9C998-1819-8B4C-0FEC-F41208BDAE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2903" y="3863214"/>
            <a:ext cx="5088526" cy="2757995"/>
          </a:xfrm>
          <a:prstGeom prst="rect">
            <a:avLst/>
          </a:prstGeom>
          <a:ln>
            <a:solidFill>
              <a:schemeClr val="accent1">
                <a:lumMod val="75000"/>
              </a:schemeClr>
            </a:solidFill>
          </a:ln>
        </p:spPr>
      </p:pic>
      <p:sp>
        <p:nvSpPr>
          <p:cNvPr id="9" name="TextBox 8">
            <a:extLst>
              <a:ext uri="{FF2B5EF4-FFF2-40B4-BE49-F238E27FC236}">
                <a16:creationId xmlns:a16="http://schemas.microsoft.com/office/drawing/2014/main" id="{E024AFE3-1A46-3DA2-0E9A-7BAFF879CE98}"/>
              </a:ext>
            </a:extLst>
          </p:cNvPr>
          <p:cNvSpPr txBox="1"/>
          <p:nvPr/>
        </p:nvSpPr>
        <p:spPr>
          <a:xfrm>
            <a:off x="6305544" y="540578"/>
            <a:ext cx="4796523" cy="307777"/>
          </a:xfrm>
          <a:prstGeom prst="rect">
            <a:avLst/>
          </a:prstGeom>
          <a:noFill/>
        </p:spPr>
        <p:txBody>
          <a:bodyPr wrap="square">
            <a:spAutoFit/>
          </a:bodyPr>
          <a:lstStyle/>
          <a:p>
            <a:r>
              <a:rPr lang="en-US" sz="1400" b="1" dirty="0"/>
              <a:t>Value Counts against Country Processed</a:t>
            </a:r>
          </a:p>
        </p:txBody>
      </p:sp>
      <p:sp>
        <p:nvSpPr>
          <p:cNvPr id="10" name="TextBox 9">
            <a:extLst>
              <a:ext uri="{FF2B5EF4-FFF2-40B4-BE49-F238E27FC236}">
                <a16:creationId xmlns:a16="http://schemas.microsoft.com/office/drawing/2014/main" id="{4029E4C1-6A3D-9341-1D9F-18847977CE31}"/>
              </a:ext>
            </a:extLst>
          </p:cNvPr>
          <p:cNvSpPr txBox="1"/>
          <p:nvPr/>
        </p:nvSpPr>
        <p:spPr>
          <a:xfrm>
            <a:off x="6305544" y="3571420"/>
            <a:ext cx="4796523" cy="307777"/>
          </a:xfrm>
          <a:prstGeom prst="rect">
            <a:avLst/>
          </a:prstGeom>
          <a:noFill/>
        </p:spPr>
        <p:txBody>
          <a:bodyPr wrap="square">
            <a:spAutoFit/>
          </a:bodyPr>
          <a:lstStyle/>
          <a:p>
            <a:r>
              <a:rPr lang="en-US" sz="1400" b="1" dirty="0"/>
              <a:t>Value Counts against SubReason</a:t>
            </a:r>
          </a:p>
        </p:txBody>
      </p:sp>
    </p:spTree>
    <p:extLst>
      <p:ext uri="{BB962C8B-B14F-4D97-AF65-F5344CB8AC3E}">
        <p14:creationId xmlns:p14="http://schemas.microsoft.com/office/powerpoint/2010/main" val="61595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F1AD76B-5934-2886-3825-F526463DC9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453" y="788874"/>
            <a:ext cx="10560502" cy="5280251"/>
          </a:xfrm>
          <a:prstGeom prst="rect">
            <a:avLst/>
          </a:prstGeom>
          <a:ln>
            <a:solidFill>
              <a:schemeClr val="accent1">
                <a:lumMod val="75000"/>
              </a:schemeClr>
            </a:solidFill>
          </a:ln>
        </p:spPr>
      </p:pic>
      <p:sp>
        <p:nvSpPr>
          <p:cNvPr id="2" name="AutoShape 2" descr="Standard normal distribution PDF | Download Scientific Diagram">
            <a:extLst>
              <a:ext uri="{FF2B5EF4-FFF2-40B4-BE49-F238E27FC236}">
                <a16:creationId xmlns:a16="http://schemas.microsoft.com/office/drawing/2014/main" id="{68BF4E3E-7CF2-4946-503E-AAAFDDE8543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6388" name="Picture 4" descr="How to Plot a Normal Distribution in Python (With Examples)">
            <a:extLst>
              <a:ext uri="{FF2B5EF4-FFF2-40B4-BE49-F238E27FC236}">
                <a16:creationId xmlns:a16="http://schemas.microsoft.com/office/drawing/2014/main" id="{1E537A98-02AF-29D0-A734-1C79E0CD33F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720" b="7418"/>
          <a:stretch>
            <a:fillRect/>
          </a:stretch>
        </p:blipFill>
        <p:spPr bwMode="auto">
          <a:xfrm>
            <a:off x="9320201" y="358147"/>
            <a:ext cx="2629932" cy="17590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90EDCC8-A0E6-0B02-C022-09F481BE6E97}"/>
              </a:ext>
            </a:extLst>
          </p:cNvPr>
          <p:cNvSpPr txBox="1"/>
          <p:nvPr/>
        </p:nvSpPr>
        <p:spPr>
          <a:xfrm>
            <a:off x="241867" y="141138"/>
            <a:ext cx="6097604" cy="584775"/>
          </a:xfrm>
          <a:prstGeom prst="rect">
            <a:avLst/>
          </a:prstGeom>
          <a:noFill/>
        </p:spPr>
        <p:txBody>
          <a:bodyPr wrap="square">
            <a:spAutoFit/>
          </a:bodyPr>
          <a:lstStyle/>
          <a:p>
            <a:r>
              <a:rPr lang="en-US" b="1" dirty="0"/>
              <a:t>Skewness in the Distribution</a:t>
            </a:r>
          </a:p>
          <a:p>
            <a:r>
              <a:rPr lang="en-US" sz="1400" b="1" dirty="0"/>
              <a:t>With Longtail </a:t>
            </a:r>
            <a:endParaRPr lang="en-US" sz="1400" dirty="0"/>
          </a:p>
        </p:txBody>
      </p:sp>
    </p:spTree>
    <p:extLst>
      <p:ext uri="{BB962C8B-B14F-4D97-AF65-F5344CB8AC3E}">
        <p14:creationId xmlns:p14="http://schemas.microsoft.com/office/powerpoint/2010/main" val="1589022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8CF610-A628-98DF-6794-57BD77CCDE15}"/>
              </a:ext>
            </a:extLst>
          </p:cNvPr>
          <p:cNvSpPr txBox="1"/>
          <p:nvPr/>
        </p:nvSpPr>
        <p:spPr>
          <a:xfrm>
            <a:off x="485247" y="712097"/>
            <a:ext cx="8912643" cy="5201424"/>
          </a:xfrm>
          <a:prstGeom prst="rect">
            <a:avLst/>
          </a:prstGeom>
          <a:noFill/>
        </p:spPr>
        <p:txBody>
          <a:bodyPr wrap="square">
            <a:spAutoFit/>
          </a:bodyPr>
          <a:lstStyle/>
          <a:p>
            <a:r>
              <a:rPr lang="en-US" b="1" dirty="0"/>
              <a:t> Discoveries</a:t>
            </a:r>
          </a:p>
          <a:p>
            <a:endParaRPr lang="en-US" b="1" dirty="0"/>
          </a:p>
          <a:p>
            <a:pPr marL="800100" lvl="1" indent="-342900">
              <a:buAutoNum type="arabicPeriod"/>
            </a:pPr>
            <a:r>
              <a:rPr lang="en-US" sz="1400" b="1" dirty="0"/>
              <a:t>Handle the Skewness of the data</a:t>
            </a:r>
          </a:p>
          <a:p>
            <a:pPr marL="800100" lvl="1" indent="-342900">
              <a:buAutoNum type="arabicPeriod"/>
            </a:pPr>
            <a:endParaRPr lang="en-US" sz="1400" b="1" dirty="0"/>
          </a:p>
          <a:p>
            <a:pPr marL="800100" lvl="1" indent="-342900">
              <a:buAutoNum type="arabicPeriod"/>
            </a:pPr>
            <a:r>
              <a:rPr lang="en-US" sz="1400" b="1" dirty="0"/>
              <a:t>Regression Algorithm</a:t>
            </a:r>
          </a:p>
          <a:p>
            <a:pPr marL="800100" lvl="1" indent="-342900">
              <a:buAutoNum type="arabicPeriod"/>
            </a:pPr>
            <a:endParaRPr lang="en-US" sz="1400" b="1" dirty="0"/>
          </a:p>
          <a:p>
            <a:pPr marL="800100" lvl="1" indent="-342900">
              <a:buAutoNum type="arabicPeriod"/>
            </a:pPr>
            <a:r>
              <a:rPr lang="en-US" sz="1400" b="1" dirty="0"/>
              <a:t>Hyper Parameter Tuning</a:t>
            </a:r>
          </a:p>
          <a:p>
            <a:endParaRPr lang="en-US" b="1" dirty="0"/>
          </a:p>
          <a:p>
            <a:endParaRPr lang="en-US" b="1" dirty="0"/>
          </a:p>
          <a:p>
            <a:r>
              <a:rPr lang="en-US" b="1" dirty="0"/>
              <a:t>Feature Engineering (Derived features)</a:t>
            </a:r>
          </a:p>
          <a:p>
            <a:endParaRPr lang="en-US" dirty="0"/>
          </a:p>
          <a:p>
            <a:pPr marL="800100" lvl="1" indent="-342900">
              <a:buFont typeface="+mj-lt"/>
              <a:buAutoNum type="arabicPeriod"/>
            </a:pPr>
            <a:r>
              <a:rPr lang="en-US" sz="1400" b="1" dirty="0"/>
              <a:t>Daily_volume</a:t>
            </a:r>
            <a:r>
              <a:rPr lang="en-US" sz="1400" dirty="0"/>
              <a:t>: Count of cases per received date; captures </a:t>
            </a:r>
            <a:r>
              <a:rPr lang="en-US" sz="1400" b="1" dirty="0"/>
              <a:t>team workload</a:t>
            </a:r>
            <a:r>
              <a:rPr lang="en-US" sz="1400" dirty="0"/>
              <a:t> on that day.</a:t>
            </a:r>
          </a:p>
          <a:p>
            <a:pPr marL="800100" lvl="1" indent="-342900">
              <a:buFont typeface="+mj-lt"/>
              <a:buAutoNum type="arabicPeriod"/>
            </a:pPr>
            <a:endParaRPr lang="en-US" sz="1400" dirty="0"/>
          </a:p>
          <a:p>
            <a:pPr marL="800100" lvl="1" indent="-342900">
              <a:buFont typeface="+mj-lt"/>
              <a:buAutoNum type="arabicPeriod"/>
            </a:pPr>
            <a:r>
              <a:rPr lang="en-US" sz="1400" b="1" dirty="0"/>
              <a:t>hour_of_day</a:t>
            </a:r>
            <a:r>
              <a:rPr lang="en-US" sz="1400" dirty="0"/>
              <a:t> : Hour extracted from received_dt; represents </a:t>
            </a:r>
            <a:r>
              <a:rPr lang="en-US" sz="1400" b="1" dirty="0"/>
              <a:t>submission time-of-day</a:t>
            </a:r>
            <a:r>
              <a:rPr lang="en-US" sz="1400" dirty="0"/>
              <a:t> effects.</a:t>
            </a:r>
          </a:p>
          <a:p>
            <a:pPr marL="800100" lvl="1" indent="-342900">
              <a:buFont typeface="+mj-lt"/>
              <a:buAutoNum type="arabicPeriod"/>
            </a:pPr>
            <a:endParaRPr lang="en-US" sz="1400" dirty="0"/>
          </a:p>
          <a:p>
            <a:pPr marL="800100" lvl="1" indent="-342900">
              <a:buFont typeface="+mj-lt"/>
              <a:buAutoNum type="arabicPeriod"/>
            </a:pPr>
            <a:r>
              <a:rPr lang="en-US" sz="1400" b="1" dirty="0"/>
              <a:t>day_of_week</a:t>
            </a:r>
            <a:r>
              <a:rPr lang="en-US" sz="1400" dirty="0"/>
              <a:t> : Day index (0–6) from received_dt; captures </a:t>
            </a:r>
            <a:r>
              <a:rPr lang="en-US" sz="1400" b="1" dirty="0"/>
              <a:t>weekday/weekend patterns</a:t>
            </a:r>
            <a:r>
              <a:rPr lang="en-US" sz="1400" dirty="0"/>
              <a:t>.</a:t>
            </a:r>
          </a:p>
          <a:p>
            <a:pPr marL="800100" lvl="1" indent="-342900">
              <a:buFont typeface="+mj-lt"/>
              <a:buAutoNum type="arabicPeriod"/>
            </a:pPr>
            <a:endParaRPr lang="en-US" sz="1400" dirty="0"/>
          </a:p>
          <a:p>
            <a:pPr marL="800100" lvl="1" indent="-342900">
              <a:buFont typeface="+mj-lt"/>
              <a:buAutoNum type="arabicPeriod"/>
            </a:pPr>
            <a:r>
              <a:rPr lang="en-US" sz="1400" b="1" dirty="0"/>
              <a:t>reason_median_speed</a:t>
            </a:r>
            <a:r>
              <a:rPr lang="en-US" sz="1400" dirty="0"/>
              <a:t>: </a:t>
            </a:r>
            <a:r>
              <a:rPr lang="en-US" sz="1400" b="1" dirty="0"/>
              <a:t>Target encoding</a:t>
            </a:r>
            <a:r>
              <a:rPr lang="en-US" sz="1400" dirty="0"/>
              <a:t>—median of  target_minutes for a particular category</a:t>
            </a:r>
          </a:p>
          <a:p>
            <a:pPr marL="800100" lvl="1" indent="-342900">
              <a:buFont typeface="+mj-lt"/>
              <a:buAutoNum type="arabicPeriod"/>
            </a:pPr>
            <a:endParaRPr lang="en-US" sz="1400" dirty="0"/>
          </a:p>
          <a:p>
            <a:pPr marL="800100" lvl="1" indent="-342900">
              <a:buFont typeface="+mj-lt"/>
              <a:buAutoNum type="arabicPeriod"/>
            </a:pPr>
            <a:r>
              <a:rPr lang="en-US" sz="1400" b="1" dirty="0"/>
              <a:t>backlog_24h : </a:t>
            </a:r>
            <a:r>
              <a:rPr lang="en-US" sz="1400" dirty="0"/>
              <a:t>how many cases were opened in last 24 hours</a:t>
            </a:r>
          </a:p>
          <a:p>
            <a:pPr marL="800100" lvl="1" indent="-342900">
              <a:buFont typeface="+mj-lt"/>
              <a:buAutoNum type="arabicPeriod"/>
            </a:pPr>
            <a:endParaRPr lang="en-US" sz="1400" dirty="0"/>
          </a:p>
          <a:p>
            <a:pPr marL="800100" lvl="1" indent="-342900">
              <a:buFont typeface="+mj-lt"/>
              <a:buAutoNum type="arabicPeriod"/>
            </a:pPr>
            <a:r>
              <a:rPr lang="en-US" sz="1400" b="1" dirty="0"/>
              <a:t>backlog_4h : </a:t>
            </a:r>
            <a:r>
              <a:rPr lang="en-US" sz="1400" dirty="0"/>
              <a:t>how many cases were opened in last 44 hours</a:t>
            </a:r>
          </a:p>
        </p:txBody>
      </p:sp>
      <p:sp>
        <p:nvSpPr>
          <p:cNvPr id="6" name="TextBox 5">
            <a:extLst>
              <a:ext uri="{FF2B5EF4-FFF2-40B4-BE49-F238E27FC236}">
                <a16:creationId xmlns:a16="http://schemas.microsoft.com/office/drawing/2014/main" id="{95CA192F-7950-030B-C82B-5BDDED317D0C}"/>
              </a:ext>
            </a:extLst>
          </p:cNvPr>
          <p:cNvSpPr txBox="1"/>
          <p:nvPr/>
        </p:nvSpPr>
        <p:spPr>
          <a:xfrm>
            <a:off x="241867" y="141138"/>
            <a:ext cx="3834833" cy="369332"/>
          </a:xfrm>
          <a:prstGeom prst="rect">
            <a:avLst/>
          </a:prstGeom>
          <a:noFill/>
        </p:spPr>
        <p:txBody>
          <a:bodyPr wrap="square">
            <a:spAutoFit/>
          </a:bodyPr>
          <a:lstStyle/>
          <a:p>
            <a:r>
              <a:rPr lang="en-US" b="1" dirty="0"/>
              <a:t>Discoveries &amp; Feature Engineering</a:t>
            </a:r>
          </a:p>
        </p:txBody>
      </p:sp>
    </p:spTree>
    <p:extLst>
      <p:ext uri="{BB962C8B-B14F-4D97-AF65-F5344CB8AC3E}">
        <p14:creationId xmlns:p14="http://schemas.microsoft.com/office/powerpoint/2010/main" val="1265336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3A5B3E-6CEB-C44B-1A98-0F995589C1AC}"/>
              </a:ext>
            </a:extLst>
          </p:cNvPr>
          <p:cNvSpPr txBox="1"/>
          <p:nvPr/>
        </p:nvSpPr>
        <p:spPr>
          <a:xfrm>
            <a:off x="324719" y="275605"/>
            <a:ext cx="6096000" cy="615553"/>
          </a:xfrm>
          <a:prstGeom prst="rect">
            <a:avLst/>
          </a:prstGeom>
          <a:noFill/>
        </p:spPr>
        <p:txBody>
          <a:bodyPr wrap="square">
            <a:spAutoFit/>
          </a:bodyPr>
          <a:lstStyle/>
          <a:p>
            <a:r>
              <a:rPr lang="en-US" b="1" dirty="0"/>
              <a:t>Data Transformation</a:t>
            </a:r>
            <a:endParaRPr lang="en-US" dirty="0"/>
          </a:p>
          <a:p>
            <a:pPr lvl="0"/>
            <a:r>
              <a:rPr lang="en-US" sz="1600" dirty="0"/>
              <a:t>Log transform: Train on log1p(target_minutes).</a:t>
            </a:r>
          </a:p>
        </p:txBody>
      </p:sp>
      <p:pic>
        <p:nvPicPr>
          <p:cNvPr id="5" name="Picture 4">
            <a:extLst>
              <a:ext uri="{FF2B5EF4-FFF2-40B4-BE49-F238E27FC236}">
                <a16:creationId xmlns:a16="http://schemas.microsoft.com/office/drawing/2014/main" id="{23D574B2-C374-F7B1-2133-CD95810C6AB1}"/>
              </a:ext>
            </a:extLst>
          </p:cNvPr>
          <p:cNvPicPr>
            <a:picLocks noChangeAspect="1"/>
          </p:cNvPicPr>
          <p:nvPr/>
        </p:nvPicPr>
        <p:blipFill>
          <a:blip r:embed="rId2"/>
          <a:stretch>
            <a:fillRect/>
          </a:stretch>
        </p:blipFill>
        <p:spPr>
          <a:xfrm>
            <a:off x="3658246" y="5163604"/>
            <a:ext cx="3483699" cy="1074896"/>
          </a:xfrm>
          <a:prstGeom prst="rect">
            <a:avLst/>
          </a:prstGeom>
          <a:ln>
            <a:solidFill>
              <a:schemeClr val="accent1">
                <a:lumMod val="75000"/>
              </a:schemeClr>
            </a:solidFill>
          </a:ln>
        </p:spPr>
      </p:pic>
      <p:sp>
        <p:nvSpPr>
          <p:cNvPr id="8" name="TextBox 7">
            <a:extLst>
              <a:ext uri="{FF2B5EF4-FFF2-40B4-BE49-F238E27FC236}">
                <a16:creationId xmlns:a16="http://schemas.microsoft.com/office/drawing/2014/main" id="{BA958E49-FAAE-52BF-A37A-457724376327}"/>
              </a:ext>
            </a:extLst>
          </p:cNvPr>
          <p:cNvSpPr txBox="1"/>
          <p:nvPr/>
        </p:nvSpPr>
        <p:spPr>
          <a:xfrm>
            <a:off x="1181368" y="5474244"/>
            <a:ext cx="1600200" cy="690574"/>
          </a:xfrm>
          <a:prstGeom prst="rect">
            <a:avLst/>
          </a:prstGeom>
          <a:noFill/>
        </p:spPr>
        <p:txBody>
          <a:bodyPr wrap="square">
            <a:spAutoFit/>
          </a:bodyPr>
          <a:lstStyle/>
          <a:p>
            <a:pPr fontAlgn="t">
              <a:lnSpc>
                <a:spcPts val="1500"/>
              </a:lnSpc>
            </a:pPr>
            <a:r>
              <a:rPr lang="en-US" b="0" i="0" dirty="0">
                <a:effectLst/>
                <a:latin typeface="Segoe UI" panose="020B0502040204020203" pitchFamily="34" charset="0"/>
              </a:rPr>
              <a:t>y= </a:t>
            </a:r>
            <a:r>
              <a:rPr lang="en-US" dirty="0"/>
              <a:t>ln(1 + x)</a:t>
            </a:r>
          </a:p>
          <a:p>
            <a:pPr fontAlgn="t">
              <a:lnSpc>
                <a:spcPts val="1500"/>
              </a:lnSpc>
            </a:pPr>
            <a:endParaRPr lang="en-US" dirty="0"/>
          </a:p>
          <a:p>
            <a:pPr fontAlgn="t">
              <a:lnSpc>
                <a:spcPts val="1500"/>
              </a:lnSpc>
            </a:pPr>
            <a:r>
              <a:rPr lang="en-US" dirty="0"/>
              <a:t>y</a:t>
            </a:r>
            <a:r>
              <a:rPr lang="en-US" b="0" i="0" dirty="0">
                <a:effectLst/>
                <a:latin typeface="Segoe UI" panose="020B0502040204020203" pitchFamily="34" charset="0"/>
              </a:rPr>
              <a:t>= exp(x)-1</a:t>
            </a:r>
            <a:endParaRPr lang="en-US" sz="1100" dirty="0">
              <a:latin typeface="Segoe UI" panose="020B0502040204020203" pitchFamily="34" charset="0"/>
            </a:endParaRPr>
          </a:p>
        </p:txBody>
      </p:sp>
      <p:pic>
        <p:nvPicPr>
          <p:cNvPr id="16" name="Picture 15">
            <a:extLst>
              <a:ext uri="{FF2B5EF4-FFF2-40B4-BE49-F238E27FC236}">
                <a16:creationId xmlns:a16="http://schemas.microsoft.com/office/drawing/2014/main" id="{95A41F93-76E0-6E80-52A3-BFEE0E1A30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079" y="1165397"/>
            <a:ext cx="7281264" cy="3640632"/>
          </a:xfrm>
          <a:prstGeom prst="rect">
            <a:avLst/>
          </a:prstGeom>
          <a:solidFill>
            <a:schemeClr val="bg1"/>
          </a:solidFill>
          <a:ln>
            <a:solidFill>
              <a:schemeClr val="accent1">
                <a:lumMod val="75000"/>
              </a:schemeClr>
            </a:solidFill>
          </a:ln>
        </p:spPr>
      </p:pic>
      <p:sp>
        <p:nvSpPr>
          <p:cNvPr id="7" name="TextBox 6">
            <a:extLst>
              <a:ext uri="{FF2B5EF4-FFF2-40B4-BE49-F238E27FC236}">
                <a16:creationId xmlns:a16="http://schemas.microsoft.com/office/drawing/2014/main" id="{48546A08-7916-7C11-0805-5C2A674F483C}"/>
              </a:ext>
            </a:extLst>
          </p:cNvPr>
          <p:cNvSpPr txBox="1"/>
          <p:nvPr/>
        </p:nvSpPr>
        <p:spPr>
          <a:xfrm>
            <a:off x="8380229" y="2504450"/>
            <a:ext cx="3410718" cy="1259960"/>
          </a:xfrm>
          <a:prstGeom prst="rect">
            <a:avLst/>
          </a:prstGeom>
          <a:noFill/>
        </p:spPr>
        <p:txBody>
          <a:bodyPr wrap="square">
            <a:spAutoFit/>
          </a:bodyPr>
          <a:lstStyle/>
          <a:p>
            <a:pPr fontAlgn="t">
              <a:lnSpc>
                <a:spcPts val="1500"/>
              </a:lnSpc>
              <a:buNone/>
            </a:pPr>
            <a:r>
              <a:rPr lang="en-US" sz="1600" dirty="0"/>
              <a:t>All the values are transformed to be in between 3 to 11</a:t>
            </a:r>
          </a:p>
          <a:p>
            <a:pPr fontAlgn="t">
              <a:lnSpc>
                <a:spcPts val="1500"/>
              </a:lnSpc>
              <a:buNone/>
            </a:pPr>
            <a:endParaRPr lang="en-US" sz="1600" dirty="0"/>
          </a:p>
          <a:p>
            <a:pPr fontAlgn="t">
              <a:lnSpc>
                <a:spcPts val="1500"/>
              </a:lnSpc>
              <a:buNone/>
            </a:pPr>
            <a:r>
              <a:rPr lang="en-US" sz="1600" dirty="0"/>
              <a:t>Large values lose their overpowering effect. Small and medium cases get balanced importance</a:t>
            </a:r>
          </a:p>
        </p:txBody>
      </p:sp>
    </p:spTree>
    <p:extLst>
      <p:ext uri="{BB962C8B-B14F-4D97-AF65-F5344CB8AC3E}">
        <p14:creationId xmlns:p14="http://schemas.microsoft.com/office/powerpoint/2010/main" val="2492909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9FF78D9-46C5-95FA-B6EA-D90B116482B4}"/>
              </a:ext>
            </a:extLst>
          </p:cNvPr>
          <p:cNvGraphicFramePr>
            <a:graphicFrameLocks noGrp="1"/>
          </p:cNvGraphicFramePr>
          <p:nvPr>
            <p:extLst>
              <p:ext uri="{D42A27DB-BD31-4B8C-83A1-F6EECF244321}">
                <p14:modId xmlns:p14="http://schemas.microsoft.com/office/powerpoint/2010/main" val="2714652747"/>
              </p:ext>
            </p:extLst>
          </p:nvPr>
        </p:nvGraphicFramePr>
        <p:xfrm>
          <a:off x="247849" y="1759443"/>
          <a:ext cx="11234820" cy="4575126"/>
        </p:xfrm>
        <a:graphic>
          <a:graphicData uri="http://schemas.openxmlformats.org/drawingml/2006/table">
            <a:tbl>
              <a:tblPr>
                <a:tableStyleId>{5C22544A-7EE6-4342-B048-85BDC9FD1C3A}</a:tableStyleId>
              </a:tblPr>
              <a:tblGrid>
                <a:gridCol w="2589489">
                  <a:extLst>
                    <a:ext uri="{9D8B030D-6E8A-4147-A177-3AD203B41FA5}">
                      <a16:colId xmlns:a16="http://schemas.microsoft.com/office/drawing/2014/main" val="3188994955"/>
                    </a:ext>
                  </a:extLst>
                </a:gridCol>
                <a:gridCol w="3014220">
                  <a:extLst>
                    <a:ext uri="{9D8B030D-6E8A-4147-A177-3AD203B41FA5}">
                      <a16:colId xmlns:a16="http://schemas.microsoft.com/office/drawing/2014/main" val="4057325541"/>
                    </a:ext>
                  </a:extLst>
                </a:gridCol>
                <a:gridCol w="2466180">
                  <a:extLst>
                    <a:ext uri="{9D8B030D-6E8A-4147-A177-3AD203B41FA5}">
                      <a16:colId xmlns:a16="http://schemas.microsoft.com/office/drawing/2014/main" val="1660763604"/>
                    </a:ext>
                  </a:extLst>
                </a:gridCol>
                <a:gridCol w="3164931">
                  <a:extLst>
                    <a:ext uri="{9D8B030D-6E8A-4147-A177-3AD203B41FA5}">
                      <a16:colId xmlns:a16="http://schemas.microsoft.com/office/drawing/2014/main" val="1508982179"/>
                    </a:ext>
                  </a:extLst>
                </a:gridCol>
              </a:tblGrid>
              <a:tr h="277214">
                <a:tc>
                  <a:txBody>
                    <a:bodyPr/>
                    <a:lstStyle/>
                    <a:p>
                      <a:pPr algn="ctr" fontAlgn="ctr">
                        <a:buNone/>
                      </a:pPr>
                      <a:r>
                        <a:rPr lang="en-US" sz="1100" b="1" u="none" strike="noStrike" dirty="0">
                          <a:effectLst/>
                        </a:rPr>
                        <a:t>Dimension</a:t>
                      </a:r>
                      <a:endParaRPr lang="en-US" sz="1100" b="1"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buNone/>
                      </a:pPr>
                      <a:r>
                        <a:rPr lang="en-US" sz="1100" b="1" u="none" strike="noStrike" dirty="0">
                          <a:effectLst/>
                        </a:rPr>
                        <a:t>CatBoost</a:t>
                      </a:r>
                      <a:endParaRPr lang="en-US" sz="1100" b="1"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buNone/>
                      </a:pPr>
                      <a:r>
                        <a:rPr lang="en-US" sz="1100" b="1" u="none" strike="noStrike" dirty="0">
                          <a:effectLst/>
                        </a:rPr>
                        <a:t>XGBoost</a:t>
                      </a:r>
                      <a:endParaRPr lang="en-US" sz="1100" b="1"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buNone/>
                      </a:pPr>
                      <a:r>
                        <a:rPr lang="en-US" sz="1100" b="1" u="none" strike="noStrike" dirty="0">
                          <a:effectLst/>
                        </a:rPr>
                        <a:t>Random Forest</a:t>
                      </a:r>
                      <a:endParaRPr lang="en-US" sz="1100" b="1"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2723812030"/>
                  </a:ext>
                </a:extLst>
              </a:tr>
              <a:tr h="1319380">
                <a:tc>
                  <a:txBody>
                    <a:bodyPr/>
                    <a:lstStyle/>
                    <a:p>
                      <a:pPr algn="ctr" fontAlgn="ctr">
                        <a:buNone/>
                      </a:pPr>
                      <a:r>
                        <a:rPr lang="en-US" sz="1100" b="1" u="none" strike="noStrike" kern="1200" dirty="0">
                          <a:solidFill>
                            <a:schemeClr val="dk1"/>
                          </a:solidFill>
                          <a:effectLst/>
                          <a:latin typeface="+mn-lt"/>
                          <a:ea typeface="+mn-ea"/>
                          <a:cs typeface="+mn-cs"/>
                        </a:rPr>
                        <a:t>Ordered Boosting</a:t>
                      </a:r>
                    </a:p>
                  </a:txBody>
                  <a:tcPr marL="6350" marR="6350" marT="6350" marB="0" anchor="ctr"/>
                </a:tc>
                <a:tc>
                  <a:txBody>
                    <a:bodyPr/>
                    <a:lstStyle/>
                    <a:p>
                      <a:pPr fontAlgn="t">
                        <a:lnSpc>
                          <a:spcPts val="1500"/>
                        </a:lnSpc>
                        <a:buFont typeface="Arial" panose="020B0604020202020204" pitchFamily="34" charset="0"/>
                        <a:buNone/>
                      </a:pPr>
                      <a:r>
                        <a:rPr lang="en-US" sz="1100" u="none" strike="noStrike" kern="1200" dirty="0">
                          <a:solidFill>
                            <a:schemeClr val="dk1"/>
                          </a:solidFill>
                          <a:effectLst/>
                          <a:latin typeface="+mn-lt"/>
                          <a:ea typeface="+mn-ea"/>
                          <a:cs typeface="+mn-cs"/>
                        </a:rPr>
                        <a:t>Can see the target value of the current record. </a:t>
                      </a:r>
                      <a:r>
                        <a:rPr lang="en-US" sz="1100" b="1" u="none" strike="noStrike" kern="1200" dirty="0">
                          <a:solidFill>
                            <a:schemeClr val="dk1"/>
                          </a:solidFill>
                          <a:effectLst/>
                          <a:latin typeface="+mn-lt"/>
                          <a:ea typeface="+mn-ea"/>
                          <a:cs typeface="+mn-cs"/>
                        </a:rPr>
                        <a:t>Uses residuals computed </a:t>
                      </a:r>
                      <a:r>
                        <a:rPr lang="en-US" sz="1100" u="none" strike="noStrike" kern="1200" dirty="0">
                          <a:solidFill>
                            <a:schemeClr val="dk1"/>
                          </a:solidFill>
                          <a:effectLst/>
                          <a:latin typeface="+mn-lt"/>
                          <a:ea typeface="+mn-ea"/>
                          <a:cs typeface="+mn-cs"/>
                        </a:rPr>
                        <a:t>from previous records to calc the </a:t>
                      </a:r>
                      <a:r>
                        <a:rPr lang="en-US" sz="1100" b="1" u="none" strike="noStrike" kern="1200" dirty="0">
                          <a:solidFill>
                            <a:schemeClr val="dk1"/>
                          </a:solidFill>
                          <a:effectLst/>
                          <a:latin typeface="+mn-lt"/>
                          <a:ea typeface="+mn-ea"/>
                          <a:cs typeface="+mn-cs"/>
                        </a:rPr>
                        <a:t>weights</a:t>
                      </a:r>
                      <a:r>
                        <a:rPr lang="en-US" sz="1100" u="none" strike="noStrike" kern="1200" dirty="0">
                          <a:solidFill>
                            <a:schemeClr val="dk1"/>
                          </a:solidFill>
                          <a:effectLst/>
                          <a:latin typeface="+mn-lt"/>
                          <a:ea typeface="+mn-ea"/>
                          <a:cs typeface="+mn-cs"/>
                        </a:rPr>
                        <a:t>.  Cannot use future target values → prevents leakage. Prevents prediction shift</a:t>
                      </a:r>
                    </a:p>
                  </a:txBody>
                  <a:tcPr marL="6350" marR="6350" marT="6350" marB="0" anchor="ctr"/>
                </a:tc>
                <a:tc>
                  <a:txBody>
                    <a:bodyPr/>
                    <a:lstStyle/>
                    <a:p>
                      <a:pPr algn="l" fontAlgn="ctr">
                        <a:buNone/>
                      </a:pPr>
                      <a:r>
                        <a:rPr lang="en-US" sz="1100" b="0" i="0" u="none" strike="noStrike" dirty="0">
                          <a:solidFill>
                            <a:srgbClr val="000000"/>
                          </a:solidFill>
                          <a:effectLst/>
                          <a:latin typeface="Segoe UI" panose="020B0502040204020203" pitchFamily="34" charset="0"/>
                        </a:rPr>
                        <a:t>Can see the target values of the all the records.</a:t>
                      </a:r>
                    </a:p>
                    <a:p>
                      <a:pPr algn="l" fontAlgn="ctr">
                        <a:buNone/>
                      </a:pPr>
                      <a:r>
                        <a:rPr lang="en-US" sz="1100" b="0" i="0" u="none" strike="noStrike" dirty="0">
                          <a:solidFill>
                            <a:srgbClr val="000000"/>
                          </a:solidFill>
                          <a:effectLst/>
                          <a:latin typeface="Segoe UI" panose="020B0502040204020203" pitchFamily="34" charset="0"/>
                        </a:rPr>
                        <a:t>Uses standard Boosting</a:t>
                      </a:r>
                    </a:p>
                  </a:txBody>
                  <a:tcPr marL="6350" marR="6350" marT="6350" marB="0" anchor="ctr"/>
                </a:tc>
                <a:tc>
                  <a:txBody>
                    <a:bodyPr/>
                    <a:lstStyle/>
                    <a:p>
                      <a:pPr algn="l" fontAlgn="ctr">
                        <a:buNone/>
                      </a:pPr>
                      <a:r>
                        <a:rPr lang="en-US" sz="1100" b="0" i="0" u="none" strike="noStrike" dirty="0">
                          <a:solidFill>
                            <a:srgbClr val="000000"/>
                          </a:solidFill>
                          <a:effectLst/>
                          <a:latin typeface="Segoe UI" panose="020B0502040204020203" pitchFamily="34" charset="0"/>
                        </a:rPr>
                        <a:t>Uses standard Boosting</a:t>
                      </a:r>
                    </a:p>
                  </a:txBody>
                  <a:tcPr marL="6350" marR="6350" marT="6350" marB="0" anchor="ctr"/>
                </a:tc>
                <a:extLst>
                  <a:ext uri="{0D108BD9-81ED-4DB2-BD59-A6C34878D82A}">
                    <a16:rowId xmlns:a16="http://schemas.microsoft.com/office/drawing/2014/main" val="946782272"/>
                  </a:ext>
                </a:extLst>
              </a:tr>
              <a:tr h="811407">
                <a:tc>
                  <a:txBody>
                    <a:bodyPr/>
                    <a:lstStyle/>
                    <a:p>
                      <a:pPr algn="ctr" fontAlgn="ctr">
                        <a:buNone/>
                      </a:pPr>
                      <a:r>
                        <a:rPr lang="en-US" sz="1100" u="none" strike="noStrike" dirty="0">
                          <a:effectLst/>
                        </a:rPr>
                        <a:t>Handling Categorical Features</a:t>
                      </a:r>
                      <a:endParaRPr lang="en-US" sz="1100" b="1" i="0" u="none" strike="noStrike" dirty="0">
                        <a:solidFill>
                          <a:srgbClr val="000000"/>
                        </a:solidFill>
                        <a:effectLst/>
                        <a:latin typeface="Segoe UI" panose="020B0502040204020203" pitchFamily="34" charset="0"/>
                      </a:endParaRPr>
                    </a:p>
                  </a:txBody>
                  <a:tcPr marL="6350" marR="6350" marT="6350" marB="0" anchor="ctr"/>
                </a:tc>
                <a:tc>
                  <a:txBody>
                    <a:bodyPr/>
                    <a:lstStyle/>
                    <a:p>
                      <a:pPr algn="l" fontAlgn="ctr">
                        <a:buNone/>
                      </a:pPr>
                      <a:r>
                        <a:rPr lang="en-US" sz="1100" b="1" u="none" strike="noStrike" dirty="0">
                          <a:effectLst/>
                        </a:rPr>
                        <a:t>Exclusively designed to handle High cardinality</a:t>
                      </a:r>
                      <a:br>
                        <a:rPr lang="en-US" sz="1100" u="none" strike="noStrike" dirty="0">
                          <a:effectLst/>
                        </a:rPr>
                      </a:br>
                      <a:r>
                        <a:rPr lang="en-US" sz="1100" u="none" strike="noStrike" dirty="0">
                          <a:effectLst/>
                        </a:rPr>
                        <a:t>(One‑hot, label, target encoding – Not Required)</a:t>
                      </a:r>
                      <a:endParaRPr lang="en-US" sz="11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l" fontAlgn="ctr">
                        <a:buNone/>
                      </a:pPr>
                      <a:r>
                        <a:rPr lang="en-US" sz="1100" u="none" strike="noStrike" dirty="0">
                          <a:effectLst/>
                        </a:rPr>
                        <a:t>Requires manual encoding (one‑hot, label, target encoding). High cardinality becomes expensive.</a:t>
                      </a:r>
                      <a:endParaRPr lang="en-US" sz="11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l" fontAlgn="ctr">
                        <a:buNone/>
                      </a:pPr>
                      <a:r>
                        <a:rPr lang="en-US" sz="1100" u="none" strike="noStrike" dirty="0">
                          <a:effectLst/>
                        </a:rPr>
                        <a:t>No native support; requires encoding. One‑hot encoding becomes impractical with high cardinality.</a:t>
                      </a:r>
                      <a:endParaRPr lang="en-US" sz="11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4146190012"/>
                  </a:ext>
                </a:extLst>
              </a:tr>
              <a:tr h="1078505">
                <a:tc>
                  <a:txBody>
                    <a:bodyPr/>
                    <a:lstStyle/>
                    <a:p>
                      <a:pPr algn="ctr" fontAlgn="ctr">
                        <a:buNone/>
                      </a:pPr>
                      <a:r>
                        <a:rPr lang="en-US" sz="1100" u="none" strike="noStrike" dirty="0">
                          <a:effectLst/>
                        </a:rPr>
                        <a:t>Dimensionality Explosion</a:t>
                      </a:r>
                      <a:endParaRPr lang="en-US" sz="1100" b="1" i="0" u="none" strike="noStrike" dirty="0">
                        <a:solidFill>
                          <a:srgbClr val="000000"/>
                        </a:solidFill>
                        <a:effectLst/>
                        <a:latin typeface="Segoe UI" panose="020B0502040204020203" pitchFamily="34" charset="0"/>
                      </a:endParaRPr>
                    </a:p>
                  </a:txBody>
                  <a:tcPr marL="6350" marR="6350" marT="6350" marB="0" anchor="ctr"/>
                </a:tc>
                <a:tc>
                  <a:txBody>
                    <a:bodyPr/>
                    <a:lstStyle/>
                    <a:p>
                      <a:pPr algn="l" fontAlgn="ctr">
                        <a:buNone/>
                      </a:pPr>
                      <a:r>
                        <a:rPr lang="en-US" sz="1100" u="none" strike="noStrike" dirty="0">
                          <a:effectLst/>
                        </a:rPr>
                        <a:t>Excellent — optimizes categorical statistics, less preprocessing bias</a:t>
                      </a:r>
                      <a:r>
                        <a:rPr lang="en-US" sz="1100" b="1" u="none" strike="noStrike" dirty="0">
                          <a:effectLst/>
                        </a:rPr>
                        <a:t>. Best in class</a:t>
                      </a:r>
                      <a:r>
                        <a:rPr lang="en-US" sz="1100" u="none" strike="noStrike" dirty="0">
                          <a:effectLst/>
                        </a:rPr>
                        <a:t>. No issue of dimensionality explosion </a:t>
                      </a:r>
                      <a:r>
                        <a:rPr lang="en-US" sz="1100" b="1" u="none" strike="noStrike" dirty="0">
                          <a:effectLst/>
                        </a:rPr>
                        <a:t>(Dramatical increase of the columns</a:t>
                      </a:r>
                      <a:endParaRPr lang="en-US" sz="1100" b="1" i="0" u="none" strike="noStrike" dirty="0">
                        <a:solidFill>
                          <a:srgbClr val="000000"/>
                        </a:solidFill>
                        <a:effectLst/>
                        <a:latin typeface="Segoe UI" panose="020B0502040204020203" pitchFamily="34" charset="0"/>
                      </a:endParaRPr>
                    </a:p>
                  </a:txBody>
                  <a:tcPr marL="6350" marR="6350" marT="6350" marB="0" anchor="ctr"/>
                </a:tc>
                <a:tc>
                  <a:txBody>
                    <a:bodyPr/>
                    <a:lstStyle/>
                    <a:p>
                      <a:pPr algn="l" fontAlgn="ctr">
                        <a:buNone/>
                      </a:pPr>
                      <a:r>
                        <a:rPr lang="en-US" sz="1100" u="none" strike="noStrike" dirty="0">
                          <a:effectLst/>
                        </a:rPr>
                        <a:t>Poorer performance when encoding introduces noise or dimensionality explosion.</a:t>
                      </a:r>
                      <a:endParaRPr lang="en-US" sz="11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l" fontAlgn="ctr">
                        <a:buNone/>
                      </a:pPr>
                      <a:r>
                        <a:rPr lang="en-US" sz="1100" u="none" strike="noStrike" dirty="0">
                          <a:effectLst/>
                        </a:rPr>
                        <a:t>Moderate. Many independent trees suffer when categorical expansion degrades split quality.</a:t>
                      </a:r>
                      <a:endParaRPr lang="en-US" sz="11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62323098"/>
                  </a:ext>
                </a:extLst>
              </a:tr>
              <a:tr h="544310">
                <a:tc>
                  <a:txBody>
                    <a:bodyPr/>
                    <a:lstStyle/>
                    <a:p>
                      <a:pPr algn="ctr" fontAlgn="ctr">
                        <a:buNone/>
                      </a:pPr>
                      <a:r>
                        <a:rPr lang="en-US" sz="1100" u="none" strike="noStrike" dirty="0">
                          <a:effectLst/>
                        </a:rPr>
                        <a:t>Speed &amp; Stability with</a:t>
                      </a:r>
                    </a:p>
                    <a:p>
                      <a:pPr algn="ctr" fontAlgn="ctr">
                        <a:buNone/>
                      </a:pPr>
                      <a:r>
                        <a:rPr lang="en-US" sz="1100" u="none" strike="noStrike" dirty="0">
                          <a:effectLst/>
                        </a:rPr>
                        <a:t> 1Million Records dataset</a:t>
                      </a:r>
                      <a:endParaRPr lang="en-US" sz="1100" b="1" i="0" u="none" strike="noStrike" dirty="0">
                        <a:solidFill>
                          <a:srgbClr val="000000"/>
                        </a:solidFill>
                        <a:effectLst/>
                        <a:latin typeface="Segoe UI" panose="020B0502040204020203" pitchFamily="34" charset="0"/>
                      </a:endParaRPr>
                    </a:p>
                  </a:txBody>
                  <a:tcPr marL="6350" marR="6350" marT="6350" marB="0" anchor="ctr"/>
                </a:tc>
                <a:tc>
                  <a:txBody>
                    <a:bodyPr/>
                    <a:lstStyle/>
                    <a:p>
                      <a:pPr algn="l" fontAlgn="ctr">
                        <a:buNone/>
                      </a:pPr>
                      <a:r>
                        <a:rPr lang="en-US" sz="1100" b="1" u="none" strike="noStrike" dirty="0">
                          <a:effectLst/>
                        </a:rPr>
                        <a:t>Faster and stable prediction</a:t>
                      </a:r>
                      <a:endParaRPr lang="en-US" sz="11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l" fontAlgn="ctr">
                        <a:buNone/>
                      </a:pPr>
                      <a:r>
                        <a:rPr lang="en-US" sz="1100" u="none" strike="noStrike" dirty="0">
                          <a:effectLst/>
                        </a:rPr>
                        <a:t>Can slow down with high‑cardinality. Encoding is mandatory</a:t>
                      </a:r>
                      <a:endParaRPr lang="en-US" sz="11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l" fontAlgn="ctr">
                        <a:buNone/>
                      </a:pPr>
                      <a:r>
                        <a:rPr lang="en-US" sz="1100" u="none" strike="noStrike" dirty="0">
                          <a:effectLst/>
                        </a:rPr>
                        <a:t>Training is parallel and relatively fast, but performance stability degrades as cardinality.</a:t>
                      </a:r>
                      <a:endParaRPr lang="en-US" sz="11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3227785551"/>
                  </a:ext>
                </a:extLst>
              </a:tr>
              <a:tr h="544310">
                <a:tc>
                  <a:txBody>
                    <a:bodyPr/>
                    <a:lstStyle/>
                    <a:p>
                      <a:pPr algn="ctr" fontAlgn="ctr">
                        <a:buNone/>
                      </a:pPr>
                      <a:r>
                        <a:rPr lang="en-US" sz="1100" b="0" u="none" strike="noStrike" dirty="0">
                          <a:solidFill>
                            <a:schemeClr val="tx1"/>
                          </a:solidFill>
                          <a:effectLst/>
                        </a:rPr>
                        <a:t>Accuracy </a:t>
                      </a:r>
                      <a:r>
                        <a:rPr lang="en-US" sz="1100" u="none" strike="noStrike" dirty="0">
                          <a:effectLst/>
                        </a:rPr>
                        <a:t>on Mixed Data </a:t>
                      </a:r>
                    </a:p>
                    <a:p>
                      <a:pPr algn="ctr" fontAlgn="ctr">
                        <a:buNone/>
                      </a:pPr>
                      <a:r>
                        <a:rPr lang="en-US" sz="1100" u="none" strike="noStrike" dirty="0">
                          <a:effectLst/>
                        </a:rPr>
                        <a:t>(Cat + Numeric)</a:t>
                      </a:r>
                      <a:endParaRPr lang="en-US" sz="1100" b="1" i="0" u="none" strike="noStrike" dirty="0">
                        <a:solidFill>
                          <a:srgbClr val="000000"/>
                        </a:solidFill>
                        <a:effectLst/>
                        <a:latin typeface="Segoe UI" panose="020B0502040204020203" pitchFamily="34" charset="0"/>
                      </a:endParaRPr>
                    </a:p>
                  </a:txBody>
                  <a:tcPr marL="6350" marR="6350" marT="6350" marB="0" anchor="ctr"/>
                </a:tc>
                <a:tc>
                  <a:txBody>
                    <a:bodyPr/>
                    <a:lstStyle/>
                    <a:p>
                      <a:pPr algn="l" fontAlgn="ctr">
                        <a:buNone/>
                      </a:pPr>
                      <a:r>
                        <a:rPr lang="en-US" sz="1100" u="none" strike="noStrike" dirty="0">
                          <a:effectLst/>
                        </a:rPr>
                        <a:t>High — designed for mixed data </a:t>
                      </a:r>
                      <a:r>
                        <a:rPr lang="en-US" sz="1100" b="1" u="none" strike="noStrike" dirty="0">
                          <a:effectLst/>
                        </a:rPr>
                        <a:t>(Cat + Numeric) </a:t>
                      </a:r>
                      <a:r>
                        <a:rPr lang="en-US" sz="1100" u="none" strike="noStrike" dirty="0">
                          <a:effectLst/>
                        </a:rPr>
                        <a:t>; reduces target leakage with ordered boosting.</a:t>
                      </a:r>
                      <a:endParaRPr lang="en-US" sz="11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l" fontAlgn="ctr">
                        <a:buNone/>
                      </a:pPr>
                      <a:r>
                        <a:rPr lang="en-US" sz="1100" u="none" strike="noStrike" dirty="0">
                          <a:effectLst/>
                        </a:rPr>
                        <a:t>Sensitive to encoding quality on categorical features.</a:t>
                      </a:r>
                      <a:endParaRPr lang="en-US" sz="11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l" fontAlgn="ctr">
                        <a:buNone/>
                      </a:pPr>
                      <a:r>
                        <a:rPr lang="en-US" sz="1100" u="none" strike="noStrike" dirty="0">
                          <a:effectLst/>
                        </a:rPr>
                        <a:t>Moderate–High, but usually lower than boosting methods on complex patterns.</a:t>
                      </a:r>
                      <a:endParaRPr lang="en-US" sz="11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288259520"/>
                  </a:ext>
                </a:extLst>
              </a:tr>
            </a:tbl>
          </a:graphicData>
        </a:graphic>
      </p:graphicFrame>
      <p:sp>
        <p:nvSpPr>
          <p:cNvPr id="4" name="TextBox 3">
            <a:extLst>
              <a:ext uri="{FF2B5EF4-FFF2-40B4-BE49-F238E27FC236}">
                <a16:creationId xmlns:a16="http://schemas.microsoft.com/office/drawing/2014/main" id="{FCE09E55-3D3B-82D9-274C-D58D2A3AEAAA}"/>
              </a:ext>
            </a:extLst>
          </p:cNvPr>
          <p:cNvSpPr txBox="1"/>
          <p:nvPr/>
        </p:nvSpPr>
        <p:spPr>
          <a:xfrm>
            <a:off x="487279" y="262991"/>
            <a:ext cx="4821322" cy="584775"/>
          </a:xfrm>
          <a:prstGeom prst="rect">
            <a:avLst/>
          </a:prstGeom>
          <a:noFill/>
        </p:spPr>
        <p:txBody>
          <a:bodyPr wrap="square">
            <a:spAutoFit/>
          </a:bodyPr>
          <a:lstStyle/>
          <a:p>
            <a:r>
              <a:rPr lang="en-US" sz="1800" b="1" kern="100" dirty="0">
                <a:effectLst/>
                <a:latin typeface="Aptos" panose="020B0004020202020204" pitchFamily="34" charset="0"/>
                <a:ea typeface="Aptos" panose="020B0004020202020204" pitchFamily="34" charset="0"/>
                <a:cs typeface="Times New Roman" panose="02020603050405020304" pitchFamily="18" charset="0"/>
              </a:rPr>
              <a:t>Model Selection Criterion </a:t>
            </a:r>
          </a:p>
          <a:p>
            <a:endParaRPr lang="en-US" sz="1400" b="1" kern="100" dirty="0">
              <a:latin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CC762016-DBA4-3B34-F840-1A1A7035722A}"/>
              </a:ext>
            </a:extLst>
          </p:cNvPr>
          <p:cNvSpPr txBox="1"/>
          <p:nvPr/>
        </p:nvSpPr>
        <p:spPr>
          <a:xfrm>
            <a:off x="487279" y="677525"/>
            <a:ext cx="5316622" cy="646331"/>
          </a:xfrm>
          <a:prstGeom prst="rect">
            <a:avLst/>
          </a:prstGeom>
          <a:noFill/>
        </p:spPr>
        <p:txBody>
          <a:bodyPr wrap="square">
            <a:spAutoFit/>
          </a:bodyPr>
          <a:lstStyle/>
          <a:p>
            <a:r>
              <a:rPr lang="en-US" sz="1200" b="1" u="none" strike="noStrike" dirty="0">
                <a:effectLst/>
              </a:rPr>
              <a:t>High Cardinality 250 + categories </a:t>
            </a:r>
          </a:p>
          <a:p>
            <a:r>
              <a:rPr lang="en-US" sz="1200" b="1" dirty="0"/>
              <a:t>1 Million records</a:t>
            </a:r>
          </a:p>
          <a:p>
            <a:r>
              <a:rPr lang="en-US" sz="1200" b="1" dirty="0"/>
              <a:t>Combination of Numerical and categorical features</a:t>
            </a:r>
          </a:p>
        </p:txBody>
      </p:sp>
      <p:sp>
        <p:nvSpPr>
          <p:cNvPr id="5" name="TextBox 4">
            <a:extLst>
              <a:ext uri="{FF2B5EF4-FFF2-40B4-BE49-F238E27FC236}">
                <a16:creationId xmlns:a16="http://schemas.microsoft.com/office/drawing/2014/main" id="{1AA3FF11-9869-6806-01F5-49315FA5858A}"/>
              </a:ext>
            </a:extLst>
          </p:cNvPr>
          <p:cNvSpPr txBox="1"/>
          <p:nvPr/>
        </p:nvSpPr>
        <p:spPr>
          <a:xfrm>
            <a:off x="7639888" y="1000691"/>
            <a:ext cx="3490767" cy="430887"/>
          </a:xfrm>
          <a:prstGeom prst="rect">
            <a:avLst/>
          </a:prstGeom>
          <a:noFill/>
        </p:spPr>
        <p:txBody>
          <a:bodyPr wrap="square">
            <a:spAutoFit/>
          </a:bodyPr>
          <a:lstStyle/>
          <a:p>
            <a:r>
              <a:rPr lang="en-US" sz="1100" b="1" kern="100" dirty="0">
                <a:latin typeface="Aptos" panose="020B0004020202020204" pitchFamily="34" charset="0"/>
                <a:cs typeface="Times New Roman" panose="02020603050405020304" pitchFamily="18" charset="0"/>
              </a:rPr>
              <a:t>While training the model lot of information is available but not while inferencing – Prediction shift</a:t>
            </a:r>
          </a:p>
        </p:txBody>
      </p:sp>
      <p:sp>
        <p:nvSpPr>
          <p:cNvPr id="9" name="TextBox 8">
            <a:extLst>
              <a:ext uri="{FF2B5EF4-FFF2-40B4-BE49-F238E27FC236}">
                <a16:creationId xmlns:a16="http://schemas.microsoft.com/office/drawing/2014/main" id="{350C2FF4-A5FF-60F9-56F9-57E7A8F400C5}"/>
              </a:ext>
            </a:extLst>
          </p:cNvPr>
          <p:cNvSpPr txBox="1"/>
          <p:nvPr/>
        </p:nvSpPr>
        <p:spPr>
          <a:xfrm>
            <a:off x="7639888" y="661334"/>
            <a:ext cx="2649354" cy="305853"/>
          </a:xfrm>
          <a:prstGeom prst="rect">
            <a:avLst/>
          </a:prstGeom>
          <a:noFill/>
        </p:spPr>
        <p:txBody>
          <a:bodyPr wrap="square">
            <a:spAutoFit/>
          </a:bodyPr>
          <a:lstStyle/>
          <a:p>
            <a:pPr fontAlgn="t">
              <a:lnSpc>
                <a:spcPts val="1500"/>
              </a:lnSpc>
              <a:buNone/>
            </a:pPr>
            <a:r>
              <a:rPr lang="en-US" b="1" i="0" dirty="0">
                <a:solidFill>
                  <a:schemeClr val="accent2">
                    <a:lumMod val="75000"/>
                  </a:schemeClr>
                </a:solidFill>
                <a:effectLst/>
                <a:latin typeface="Script MT Bold" panose="03040602040607080904" pitchFamily="66" charset="0"/>
              </a:rPr>
              <a:t>y</a:t>
            </a:r>
            <a:r>
              <a:rPr lang="pl-PL" b="1" i="0" dirty="0">
                <a:effectLst/>
                <a:latin typeface="Script MT Bold" panose="03040602040607080904" pitchFamily="66" charset="0"/>
              </a:rPr>
              <a:t>​=</a:t>
            </a:r>
            <a:r>
              <a:rPr lang="pl-PL" b="1" i="0" dirty="0">
                <a:solidFill>
                  <a:schemeClr val="accent3">
                    <a:lumMod val="60000"/>
                    <a:lumOff val="40000"/>
                  </a:schemeClr>
                </a:solidFill>
                <a:effectLst/>
                <a:latin typeface="Script MT Bold" panose="03040602040607080904" pitchFamily="66" charset="0"/>
              </a:rPr>
              <a:t>w1</a:t>
            </a:r>
            <a:r>
              <a:rPr lang="pl-PL" b="1" i="0" dirty="0">
                <a:effectLst/>
                <a:latin typeface="Script MT Bold" panose="03040602040607080904" pitchFamily="66" charset="0"/>
              </a:rPr>
              <a:t>​</a:t>
            </a:r>
            <a:r>
              <a:rPr lang="en-US" b="1" i="0" dirty="0">
                <a:solidFill>
                  <a:srgbClr val="0070C0"/>
                </a:solidFill>
                <a:effectLst/>
                <a:latin typeface="Script MT Bold" panose="03040602040607080904" pitchFamily="66" charset="0"/>
              </a:rPr>
              <a:t>x</a:t>
            </a:r>
            <a:r>
              <a:rPr lang="pl-PL" b="1" i="0" dirty="0">
                <a:solidFill>
                  <a:srgbClr val="0070C0"/>
                </a:solidFill>
                <a:effectLst/>
                <a:latin typeface="Script MT Bold" panose="03040602040607080904" pitchFamily="66" charset="0"/>
              </a:rPr>
              <a:t>1</a:t>
            </a:r>
            <a:r>
              <a:rPr lang="pl-PL" b="1" i="0" dirty="0">
                <a:effectLst/>
                <a:latin typeface="Script MT Bold" panose="03040602040607080904" pitchFamily="66" charset="0"/>
              </a:rPr>
              <a:t>​+</a:t>
            </a:r>
            <a:r>
              <a:rPr lang="pl-PL" b="1" i="0" dirty="0">
                <a:solidFill>
                  <a:schemeClr val="accent3">
                    <a:lumMod val="60000"/>
                    <a:lumOff val="40000"/>
                  </a:schemeClr>
                </a:solidFill>
                <a:effectLst/>
                <a:latin typeface="Script MT Bold" panose="03040602040607080904" pitchFamily="66" charset="0"/>
              </a:rPr>
              <a:t>w2​</a:t>
            </a:r>
            <a:r>
              <a:rPr lang="pl-PL" b="1" i="0" dirty="0">
                <a:solidFill>
                  <a:srgbClr val="0070C0"/>
                </a:solidFill>
                <a:effectLst/>
                <a:latin typeface="Script MT Bold" panose="03040602040607080904" pitchFamily="66" charset="0"/>
              </a:rPr>
              <a:t>x2</a:t>
            </a:r>
            <a:r>
              <a:rPr lang="pl-PL" b="1" i="0" dirty="0">
                <a:effectLst/>
                <a:latin typeface="Script MT Bold" panose="03040602040607080904" pitchFamily="66" charset="0"/>
              </a:rPr>
              <a:t>​+</a:t>
            </a:r>
            <a:r>
              <a:rPr lang="pl-PL" b="1" i="0" dirty="0">
                <a:solidFill>
                  <a:schemeClr val="accent3">
                    <a:lumMod val="60000"/>
                    <a:lumOff val="40000"/>
                  </a:schemeClr>
                </a:solidFill>
                <a:effectLst/>
                <a:latin typeface="Script MT Bold" panose="03040602040607080904" pitchFamily="66" charset="0"/>
              </a:rPr>
              <a:t>w3</a:t>
            </a:r>
            <a:r>
              <a:rPr lang="pl-PL" b="1" i="0" dirty="0">
                <a:effectLst/>
                <a:latin typeface="Script MT Bold" panose="03040602040607080904" pitchFamily="66" charset="0"/>
              </a:rPr>
              <a:t>​</a:t>
            </a:r>
            <a:r>
              <a:rPr lang="pl-PL" b="1" i="0" dirty="0">
                <a:solidFill>
                  <a:srgbClr val="0070C0"/>
                </a:solidFill>
                <a:effectLst/>
                <a:latin typeface="Script MT Bold" panose="03040602040607080904" pitchFamily="66" charset="0"/>
              </a:rPr>
              <a:t>x3</a:t>
            </a:r>
            <a:r>
              <a:rPr lang="pl-PL" b="1" i="0" dirty="0">
                <a:effectLst/>
                <a:latin typeface="Script MT Bold" panose="03040602040607080904" pitchFamily="66" charset="0"/>
              </a:rPr>
              <a:t>​+</a:t>
            </a:r>
            <a:r>
              <a:rPr lang="pl-PL" b="1" i="0" dirty="0">
                <a:solidFill>
                  <a:schemeClr val="accent3">
                    <a:lumMod val="60000"/>
                    <a:lumOff val="40000"/>
                  </a:schemeClr>
                </a:solidFill>
                <a:effectLst/>
                <a:latin typeface="Script MT Bold" panose="03040602040607080904" pitchFamily="66" charset="0"/>
              </a:rPr>
              <a:t>b</a:t>
            </a:r>
          </a:p>
        </p:txBody>
      </p:sp>
    </p:spTree>
    <p:extLst>
      <p:ext uri="{BB962C8B-B14F-4D97-AF65-F5344CB8AC3E}">
        <p14:creationId xmlns:p14="http://schemas.microsoft.com/office/powerpoint/2010/main" val="2097852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E7567D-D80D-A6BA-4DC8-43E6BB7B5D32}"/>
              </a:ext>
            </a:extLst>
          </p:cNvPr>
          <p:cNvPicPr>
            <a:picLocks noChangeAspect="1"/>
          </p:cNvPicPr>
          <p:nvPr/>
        </p:nvPicPr>
        <p:blipFill>
          <a:blip r:embed="rId2"/>
          <a:stretch>
            <a:fillRect/>
          </a:stretch>
        </p:blipFill>
        <p:spPr>
          <a:xfrm>
            <a:off x="10340829" y="323556"/>
            <a:ext cx="1553729" cy="387644"/>
          </a:xfrm>
          <a:prstGeom prst="rect">
            <a:avLst/>
          </a:prstGeom>
        </p:spPr>
      </p:pic>
      <p:sp>
        <p:nvSpPr>
          <p:cNvPr id="11" name="TextBox 10">
            <a:extLst>
              <a:ext uri="{FF2B5EF4-FFF2-40B4-BE49-F238E27FC236}">
                <a16:creationId xmlns:a16="http://schemas.microsoft.com/office/drawing/2014/main" id="{819055C2-AEA1-397F-0968-FCF641355B21}"/>
              </a:ext>
            </a:extLst>
          </p:cNvPr>
          <p:cNvSpPr txBox="1"/>
          <p:nvPr/>
        </p:nvSpPr>
        <p:spPr>
          <a:xfrm>
            <a:off x="749567" y="341868"/>
            <a:ext cx="6096000" cy="538609"/>
          </a:xfrm>
          <a:prstGeom prst="rect">
            <a:avLst/>
          </a:prstGeom>
          <a:noFill/>
        </p:spPr>
        <p:txBody>
          <a:bodyPr wrap="square">
            <a:spAutoFit/>
          </a:bodyPr>
          <a:lstStyle/>
          <a:p>
            <a:r>
              <a:rPr lang="en-US" sz="1800" b="1" kern="100" dirty="0">
                <a:effectLst/>
                <a:latin typeface="Aptos" panose="020B0004020202020204" pitchFamily="34" charset="0"/>
                <a:ea typeface="Aptos" panose="020B0004020202020204" pitchFamily="34" charset="0"/>
                <a:cs typeface="Times New Roman" panose="02020603050405020304" pitchFamily="18" charset="0"/>
              </a:rPr>
              <a:t>Hyper Parameter Tuning</a:t>
            </a:r>
          </a:p>
          <a:p>
            <a:r>
              <a:rPr lang="en-US" sz="1100" b="1" kern="100" dirty="0">
                <a:latin typeface="Aptos" panose="020B0004020202020204" pitchFamily="34" charset="0"/>
                <a:cs typeface="Times New Roman" panose="02020603050405020304" pitchFamily="18" charset="0"/>
              </a:rPr>
              <a:t>GridSearchCV vs Optuna-</a:t>
            </a:r>
            <a:r>
              <a:rPr lang="en-US" sz="1100" b="1" dirty="0"/>
              <a:t>Bayesian optimization</a:t>
            </a:r>
            <a:endParaRPr lang="en-US" dirty="0"/>
          </a:p>
        </p:txBody>
      </p:sp>
      <p:pic>
        <p:nvPicPr>
          <p:cNvPr id="8194" name="Picture 2" descr="CatBoost - An In-Depth Guide">
            <a:extLst>
              <a:ext uri="{FF2B5EF4-FFF2-40B4-BE49-F238E27FC236}">
                <a16:creationId xmlns:a16="http://schemas.microsoft.com/office/drawing/2014/main" id="{DE1DD5EB-5946-8A54-0184-DE4CDE5709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288" y="5304462"/>
            <a:ext cx="11771587" cy="1346305"/>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9B4C4C2C-1045-C584-8140-5D5AB2907DDD}"/>
              </a:ext>
            </a:extLst>
          </p:cNvPr>
          <p:cNvSpPr txBox="1"/>
          <p:nvPr/>
        </p:nvSpPr>
        <p:spPr>
          <a:xfrm>
            <a:off x="749567" y="1061551"/>
            <a:ext cx="4820916" cy="3130729"/>
          </a:xfrm>
          <a:prstGeom prst="rect">
            <a:avLst/>
          </a:prstGeom>
          <a:noFill/>
        </p:spPr>
        <p:txBody>
          <a:bodyPr wrap="square">
            <a:spAutoFit/>
          </a:bodyPr>
          <a:lstStyle>
            <a:defPPr>
              <a:defRPr lang="en-US"/>
            </a:defPPr>
            <a:lvl1pPr marR="0">
              <a:lnSpc>
                <a:spcPct val="115000"/>
              </a:lnSpc>
              <a:spcAft>
                <a:spcPts val="800"/>
              </a:spcAft>
              <a:buNone/>
              <a:defRPr b="1" kern="100">
                <a:effectLst/>
                <a:latin typeface="Aptos" panose="020B0004020202020204" pitchFamily="34" charset="0"/>
                <a:ea typeface="Aptos" panose="020B0004020202020204" pitchFamily="34" charset="0"/>
                <a:cs typeface="Times New Roman" panose="02020603050405020304" pitchFamily="18" charset="0"/>
              </a:defRPr>
            </a:lvl1pPr>
          </a:lstStyle>
          <a:p>
            <a:r>
              <a:rPr lang="en-US" sz="1400" dirty="0"/>
              <a:t>Tuning Method : </a:t>
            </a:r>
            <a:r>
              <a:rPr lang="en-US" sz="1400" b="0" dirty="0"/>
              <a:t>GridSearchCV</a:t>
            </a:r>
          </a:p>
          <a:p>
            <a:r>
              <a:rPr lang="en-US" sz="1400" dirty="0"/>
              <a:t>iterations = 3000</a:t>
            </a:r>
          </a:p>
          <a:p>
            <a:r>
              <a:rPr lang="en-US" sz="1400" dirty="0"/>
              <a:t>learning_rate = 0.015</a:t>
            </a:r>
          </a:p>
          <a:p>
            <a:r>
              <a:rPr lang="en-US" sz="1400" dirty="0"/>
              <a:t>depth = 10</a:t>
            </a:r>
          </a:p>
          <a:p>
            <a:r>
              <a:rPr lang="en-US" sz="1400" dirty="0"/>
              <a:t>l2_leaf_reg = 12</a:t>
            </a:r>
          </a:p>
          <a:p>
            <a:r>
              <a:rPr lang="en-US" sz="1400" dirty="0"/>
              <a:t>bagging_temperature = 0.2</a:t>
            </a:r>
          </a:p>
          <a:p>
            <a:r>
              <a:rPr lang="en-US" sz="1400" dirty="0"/>
              <a:t>loss_function = 'MAE'</a:t>
            </a:r>
          </a:p>
          <a:p>
            <a:r>
              <a:rPr lang="en-US" sz="1400" dirty="0"/>
              <a:t>eval_metric = 'R2'</a:t>
            </a:r>
          </a:p>
          <a:p>
            <a:r>
              <a:rPr lang="en-US" sz="1400" dirty="0" err="1"/>
              <a:t>cat_features</a:t>
            </a:r>
            <a:r>
              <a:rPr lang="en-US" sz="1400" dirty="0"/>
              <a:t> = </a:t>
            </a:r>
            <a:r>
              <a:rPr lang="en-US" sz="1400" dirty="0" err="1"/>
              <a:t>final_cat_features</a:t>
            </a:r>
            <a:endParaRPr lang="en-US" sz="1400" dirty="0"/>
          </a:p>
        </p:txBody>
      </p:sp>
      <p:sp>
        <p:nvSpPr>
          <p:cNvPr id="4" name="TextBox 3">
            <a:extLst>
              <a:ext uri="{FF2B5EF4-FFF2-40B4-BE49-F238E27FC236}">
                <a16:creationId xmlns:a16="http://schemas.microsoft.com/office/drawing/2014/main" id="{6457E6E1-1547-F466-0512-B08B04F5DDFC}"/>
              </a:ext>
            </a:extLst>
          </p:cNvPr>
          <p:cNvSpPr txBox="1"/>
          <p:nvPr/>
        </p:nvSpPr>
        <p:spPr>
          <a:xfrm>
            <a:off x="5570483" y="1980585"/>
            <a:ext cx="4974958" cy="646331"/>
          </a:xfrm>
          <a:prstGeom prst="rect">
            <a:avLst/>
          </a:prstGeom>
          <a:noFill/>
        </p:spPr>
        <p:txBody>
          <a:bodyPr wrap="square">
            <a:spAutoFit/>
          </a:bodyPr>
          <a:lstStyle/>
          <a:p>
            <a:r>
              <a:rPr lang="en-US" sz="1800" b="1" dirty="0"/>
              <a:t>R2 &amp; MAE Value Improved after the fine tuning with GridSearch CV</a:t>
            </a:r>
            <a:endParaRPr lang="en-US" b="1" dirty="0"/>
          </a:p>
        </p:txBody>
      </p:sp>
      <p:sp>
        <p:nvSpPr>
          <p:cNvPr id="7" name="TextBox 6">
            <a:extLst>
              <a:ext uri="{FF2B5EF4-FFF2-40B4-BE49-F238E27FC236}">
                <a16:creationId xmlns:a16="http://schemas.microsoft.com/office/drawing/2014/main" id="{699F61F3-89EC-06FE-96C6-CBDB9DF81D5C}"/>
              </a:ext>
            </a:extLst>
          </p:cNvPr>
          <p:cNvSpPr txBox="1"/>
          <p:nvPr/>
        </p:nvSpPr>
        <p:spPr>
          <a:xfrm>
            <a:off x="5570483" y="2955641"/>
            <a:ext cx="6097904" cy="923330"/>
          </a:xfrm>
          <a:prstGeom prst="rect">
            <a:avLst/>
          </a:prstGeom>
          <a:noFill/>
        </p:spPr>
        <p:txBody>
          <a:bodyPr wrap="square">
            <a:spAutoFit/>
          </a:bodyPr>
          <a:lstStyle/>
          <a:p>
            <a:r>
              <a:rPr lang="en-US" sz="1800" b="1" dirty="0"/>
              <a:t>Optuna - Bayesian</a:t>
            </a:r>
            <a:r>
              <a:rPr lang="en-US" sz="1800" dirty="0"/>
              <a:t> which didn’t yield good results with R2 Score and MAE. Took a longer time up to 26 Hours, where as GSCV took about 3 hours</a:t>
            </a:r>
            <a:endParaRPr lang="en-US" sz="1800" b="0" dirty="0"/>
          </a:p>
        </p:txBody>
      </p:sp>
    </p:spTree>
    <p:extLst>
      <p:ext uri="{BB962C8B-B14F-4D97-AF65-F5344CB8AC3E}">
        <p14:creationId xmlns:p14="http://schemas.microsoft.com/office/powerpoint/2010/main" val="2678077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C56FE41-E2B0-329E-A351-2715F8C47826}"/>
              </a:ext>
            </a:extLst>
          </p:cNvPr>
          <p:cNvSpPr txBox="1"/>
          <p:nvPr/>
        </p:nvSpPr>
        <p:spPr>
          <a:xfrm>
            <a:off x="563048" y="1154361"/>
            <a:ext cx="3927276" cy="1323439"/>
          </a:xfrm>
          <a:prstGeom prst="rect">
            <a:avLst/>
          </a:prstGeom>
          <a:solidFill>
            <a:schemeClr val="tx2">
              <a:lumMod val="90000"/>
              <a:lumOff val="10000"/>
            </a:schemeClr>
          </a:solidFill>
          <a:ln>
            <a:solidFill>
              <a:schemeClr val="accent1">
                <a:lumMod val="75000"/>
              </a:schemeClr>
            </a:solidFill>
          </a:ln>
        </p:spPr>
        <p:txBody>
          <a:bodyPr wrap="square">
            <a:spAutoFit/>
          </a:bodyPr>
          <a:lstStyle/>
          <a:p>
            <a:r>
              <a:rPr lang="pt-BR" sz="2400" dirty="0">
                <a:solidFill>
                  <a:srgbClr val="FFC000"/>
                </a:solidFill>
              </a:rPr>
              <a:t>Final R2 Score: 0.6014</a:t>
            </a:r>
          </a:p>
          <a:p>
            <a:r>
              <a:rPr lang="pt-BR" sz="2400" dirty="0">
                <a:solidFill>
                  <a:srgbClr val="FFC000"/>
                </a:solidFill>
              </a:rPr>
              <a:t>Final MAE: 102.89 minutes</a:t>
            </a:r>
          </a:p>
          <a:p>
            <a:r>
              <a:rPr lang="pt-BR" sz="1600" dirty="0">
                <a:solidFill>
                  <a:srgbClr val="FFC000"/>
                </a:solidFill>
              </a:rPr>
              <a:t>Minutes : 1075.5 (18 Hours)</a:t>
            </a:r>
          </a:p>
          <a:p>
            <a:r>
              <a:rPr lang="pt-BR" sz="1600" b="1" dirty="0">
                <a:solidFill>
                  <a:srgbClr val="FFC000"/>
                </a:solidFill>
              </a:rPr>
              <a:t>0.75</a:t>
            </a:r>
            <a:endParaRPr lang="en-US" sz="1600" b="1" dirty="0">
              <a:solidFill>
                <a:schemeClr val="bg1"/>
              </a:solidFill>
            </a:endParaRPr>
          </a:p>
        </p:txBody>
      </p:sp>
      <p:sp>
        <p:nvSpPr>
          <p:cNvPr id="8" name="TextBox 7">
            <a:extLst>
              <a:ext uri="{FF2B5EF4-FFF2-40B4-BE49-F238E27FC236}">
                <a16:creationId xmlns:a16="http://schemas.microsoft.com/office/drawing/2014/main" id="{38550A5B-5170-3ED4-E677-02157AC4BB95}"/>
              </a:ext>
            </a:extLst>
          </p:cNvPr>
          <p:cNvSpPr txBox="1"/>
          <p:nvPr/>
        </p:nvSpPr>
        <p:spPr>
          <a:xfrm>
            <a:off x="480184" y="323556"/>
            <a:ext cx="6097604" cy="369332"/>
          </a:xfrm>
          <a:prstGeom prst="rect">
            <a:avLst/>
          </a:prstGeom>
          <a:noFill/>
        </p:spPr>
        <p:txBody>
          <a:bodyPr wrap="square">
            <a:spAutoFit/>
          </a:bodyPr>
          <a:lstStyle/>
          <a:p>
            <a:r>
              <a:rPr lang="en-US" b="1" dirty="0"/>
              <a:t>Model Evaluation &amp; Performance Metrics</a:t>
            </a:r>
            <a:endParaRPr lang="en-US" dirty="0"/>
          </a:p>
        </p:txBody>
      </p:sp>
      <p:pic>
        <p:nvPicPr>
          <p:cNvPr id="9" name="Picture 8">
            <a:extLst>
              <a:ext uri="{FF2B5EF4-FFF2-40B4-BE49-F238E27FC236}">
                <a16:creationId xmlns:a16="http://schemas.microsoft.com/office/drawing/2014/main" id="{3AF94B68-A1C6-0B82-E3C9-E24C182F4697}"/>
              </a:ext>
            </a:extLst>
          </p:cNvPr>
          <p:cNvPicPr>
            <a:picLocks noChangeAspect="1"/>
          </p:cNvPicPr>
          <p:nvPr/>
        </p:nvPicPr>
        <p:blipFill>
          <a:blip r:embed="rId2"/>
          <a:stretch>
            <a:fillRect/>
          </a:stretch>
        </p:blipFill>
        <p:spPr>
          <a:xfrm>
            <a:off x="10340829" y="323556"/>
            <a:ext cx="1553729" cy="387644"/>
          </a:xfrm>
          <a:prstGeom prst="rect">
            <a:avLst/>
          </a:prstGeom>
        </p:spPr>
      </p:pic>
      <p:sp>
        <p:nvSpPr>
          <p:cNvPr id="10" name="TextBox 9">
            <a:extLst>
              <a:ext uri="{FF2B5EF4-FFF2-40B4-BE49-F238E27FC236}">
                <a16:creationId xmlns:a16="http://schemas.microsoft.com/office/drawing/2014/main" id="{6859CE1C-6514-1668-356A-C234315566D3}"/>
              </a:ext>
            </a:extLst>
          </p:cNvPr>
          <p:cNvSpPr txBox="1"/>
          <p:nvPr/>
        </p:nvSpPr>
        <p:spPr>
          <a:xfrm>
            <a:off x="0" y="6140200"/>
            <a:ext cx="4721087" cy="430887"/>
          </a:xfrm>
          <a:prstGeom prst="rect">
            <a:avLst/>
          </a:prstGeom>
          <a:noFill/>
        </p:spPr>
        <p:txBody>
          <a:bodyPr wrap="square">
            <a:spAutoFit/>
          </a:bodyPr>
          <a:lstStyle/>
          <a:p>
            <a:pPr lvl="1"/>
            <a:r>
              <a:rPr lang="en-US" sz="1050" b="1" dirty="0"/>
              <a:t>Truncated to 75%. It is working well. There are several other things happened after that </a:t>
            </a:r>
          </a:p>
        </p:txBody>
      </p:sp>
      <p:pic>
        <p:nvPicPr>
          <p:cNvPr id="11" name="Picture 10">
            <a:extLst>
              <a:ext uri="{FF2B5EF4-FFF2-40B4-BE49-F238E27FC236}">
                <a16:creationId xmlns:a16="http://schemas.microsoft.com/office/drawing/2014/main" id="{E5BA9616-81F5-5DAD-6C42-A9502C9359EB}"/>
              </a:ext>
            </a:extLst>
          </p:cNvPr>
          <p:cNvPicPr>
            <a:picLocks noChangeAspect="1"/>
          </p:cNvPicPr>
          <p:nvPr/>
        </p:nvPicPr>
        <p:blipFill>
          <a:blip r:embed="rId3"/>
          <a:stretch>
            <a:fillRect/>
          </a:stretch>
        </p:blipFill>
        <p:spPr>
          <a:xfrm>
            <a:off x="563048" y="2993100"/>
            <a:ext cx="3654167" cy="2324363"/>
          </a:xfrm>
          <a:prstGeom prst="rect">
            <a:avLst/>
          </a:prstGeom>
          <a:ln>
            <a:solidFill>
              <a:schemeClr val="accent1">
                <a:lumMod val="75000"/>
              </a:schemeClr>
            </a:solidFill>
          </a:ln>
        </p:spPr>
      </p:pic>
      <p:sp>
        <p:nvSpPr>
          <p:cNvPr id="13" name="TextBox 12">
            <a:extLst>
              <a:ext uri="{FF2B5EF4-FFF2-40B4-BE49-F238E27FC236}">
                <a16:creationId xmlns:a16="http://schemas.microsoft.com/office/drawing/2014/main" id="{B1A2F240-5E21-EB6B-7536-7F10EDA6152F}"/>
              </a:ext>
            </a:extLst>
          </p:cNvPr>
          <p:cNvSpPr txBox="1"/>
          <p:nvPr/>
        </p:nvSpPr>
        <p:spPr>
          <a:xfrm>
            <a:off x="5845218" y="2670150"/>
            <a:ext cx="5783734" cy="1938992"/>
          </a:xfrm>
          <a:prstGeom prst="rect">
            <a:avLst/>
          </a:prstGeom>
          <a:noFill/>
        </p:spPr>
        <p:txBody>
          <a:bodyPr wrap="square">
            <a:spAutoFit/>
          </a:bodyPr>
          <a:lstStyle/>
          <a:p>
            <a:r>
              <a:rPr lang="en-US" sz="2000" dirty="0"/>
              <a:t>R2 : How well the regression Models fits the data. The Independent variables explain the variance. What % it is learnt and clear</a:t>
            </a:r>
          </a:p>
          <a:p>
            <a:endParaRPr lang="en-US" sz="2000" dirty="0"/>
          </a:p>
          <a:p>
            <a:r>
              <a:rPr lang="en-US" sz="2000" dirty="0"/>
              <a:t>MAE : Mean Absolute error. From the derived equation what is the error</a:t>
            </a:r>
          </a:p>
        </p:txBody>
      </p:sp>
    </p:spTree>
    <p:extLst>
      <p:ext uri="{BB962C8B-B14F-4D97-AF65-F5344CB8AC3E}">
        <p14:creationId xmlns:p14="http://schemas.microsoft.com/office/powerpoint/2010/main" val="3976986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64BF4A-DED1-A930-FCAB-1288A7ED101F}"/>
              </a:ext>
            </a:extLst>
          </p:cNvPr>
          <p:cNvSpPr txBox="1"/>
          <p:nvPr/>
        </p:nvSpPr>
        <p:spPr>
          <a:xfrm>
            <a:off x="921618" y="623014"/>
            <a:ext cx="9714298" cy="2831544"/>
          </a:xfrm>
          <a:prstGeom prst="rect">
            <a:avLst/>
          </a:prstGeom>
          <a:noFill/>
        </p:spPr>
        <p:txBody>
          <a:bodyPr wrap="square">
            <a:spAutoFit/>
          </a:bodyPr>
          <a:lstStyle/>
          <a:p>
            <a:pPr lvl="1"/>
            <a:r>
              <a:rPr lang="en-US" sz="1400" b="1" dirty="0"/>
              <a:t>Some cases are opened and closed serval times before it is getting completed. </a:t>
            </a:r>
          </a:p>
          <a:p>
            <a:pPr lvl="1"/>
            <a:endParaRPr lang="en-US" sz="1400" b="1" dirty="0"/>
          </a:p>
          <a:p>
            <a:pPr lvl="1"/>
            <a:r>
              <a:rPr lang="en-US" sz="1400" b="1" dirty="0"/>
              <a:t>Task completed but not closed. </a:t>
            </a:r>
          </a:p>
          <a:p>
            <a:pPr lvl="1"/>
            <a:endParaRPr lang="en-US" sz="1400" b="1" dirty="0"/>
          </a:p>
          <a:p>
            <a:pPr lvl="1"/>
            <a:r>
              <a:rPr lang="en-US" sz="1400" b="1" dirty="0"/>
              <a:t>Human element involved. Possible feature for skill level</a:t>
            </a:r>
          </a:p>
          <a:p>
            <a:pPr lvl="1"/>
            <a:endParaRPr lang="en-US" sz="1400" b="1" dirty="0"/>
          </a:p>
          <a:p>
            <a:pPr lvl="1"/>
            <a:r>
              <a:rPr lang="en-US" sz="1400" b="1" dirty="0"/>
              <a:t>The tickets being flowing among many Human agents back and forth. </a:t>
            </a:r>
          </a:p>
          <a:p>
            <a:pPr lvl="1"/>
            <a:endParaRPr lang="en-US" sz="1400" b="1" dirty="0"/>
          </a:p>
          <a:p>
            <a:pPr lvl="1"/>
            <a:r>
              <a:rPr lang="en-US" sz="1400" b="1" dirty="0"/>
              <a:t>Some cases are solved in less than 5 to 30 minutes</a:t>
            </a:r>
          </a:p>
          <a:p>
            <a:pPr lvl="1"/>
            <a:endParaRPr lang="en-US" sz="1400" b="1" dirty="0"/>
          </a:p>
          <a:p>
            <a:pPr lvl="1"/>
            <a:r>
              <a:rPr lang="en-US" sz="1400" b="1" dirty="0"/>
              <a:t>Analysis on </a:t>
            </a:r>
            <a:r>
              <a:rPr lang="en-US" sz="1400" b="1" dirty="0">
                <a:highlight>
                  <a:srgbClr val="C0C0C0"/>
                </a:highlight>
              </a:rPr>
              <a:t>Audit History</a:t>
            </a:r>
          </a:p>
          <a:p>
            <a:pPr lvl="1"/>
            <a:r>
              <a:rPr lang="en-US" sz="1200" b="1" dirty="0"/>
              <a:t>Deriving some new features from the Audit History. Deep dive into different scenarios. Finding the attributes which are contributing to Skewness in duration</a:t>
            </a:r>
            <a:endParaRPr lang="en-US" sz="1400" dirty="0"/>
          </a:p>
        </p:txBody>
      </p:sp>
      <p:sp>
        <p:nvSpPr>
          <p:cNvPr id="6" name="TextBox 5">
            <a:extLst>
              <a:ext uri="{FF2B5EF4-FFF2-40B4-BE49-F238E27FC236}">
                <a16:creationId xmlns:a16="http://schemas.microsoft.com/office/drawing/2014/main" id="{02D5C000-DB99-21C0-2135-78B250203B44}"/>
              </a:ext>
            </a:extLst>
          </p:cNvPr>
          <p:cNvSpPr txBox="1"/>
          <p:nvPr/>
        </p:nvSpPr>
        <p:spPr>
          <a:xfrm>
            <a:off x="305602" y="147405"/>
            <a:ext cx="6097604" cy="369332"/>
          </a:xfrm>
          <a:prstGeom prst="rect">
            <a:avLst/>
          </a:prstGeom>
          <a:noFill/>
        </p:spPr>
        <p:txBody>
          <a:bodyPr wrap="square">
            <a:spAutoFit/>
          </a:bodyPr>
          <a:lstStyle/>
          <a:p>
            <a:r>
              <a:rPr lang="en-US" b="1" dirty="0"/>
              <a:t>Observations and Further Investigation :</a:t>
            </a:r>
          </a:p>
        </p:txBody>
      </p:sp>
    </p:spTree>
    <p:extLst>
      <p:ext uri="{BB962C8B-B14F-4D97-AF65-F5344CB8AC3E}">
        <p14:creationId xmlns:p14="http://schemas.microsoft.com/office/powerpoint/2010/main" val="3451646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BEF4DAB-1CC3-675C-5719-333F5D18A0BB}"/>
              </a:ext>
            </a:extLst>
          </p:cNvPr>
          <p:cNvPicPr>
            <a:picLocks noChangeAspect="1"/>
          </p:cNvPicPr>
          <p:nvPr/>
        </p:nvPicPr>
        <p:blipFill>
          <a:blip r:embed="rId2"/>
          <a:stretch>
            <a:fillRect/>
          </a:stretch>
        </p:blipFill>
        <p:spPr>
          <a:xfrm>
            <a:off x="10340829" y="323556"/>
            <a:ext cx="1553729" cy="387644"/>
          </a:xfrm>
          <a:prstGeom prst="rect">
            <a:avLst/>
          </a:prstGeom>
        </p:spPr>
      </p:pic>
      <p:sp>
        <p:nvSpPr>
          <p:cNvPr id="4" name="TextBox 3">
            <a:extLst>
              <a:ext uri="{FF2B5EF4-FFF2-40B4-BE49-F238E27FC236}">
                <a16:creationId xmlns:a16="http://schemas.microsoft.com/office/drawing/2014/main" id="{D25B74D2-5B41-E26A-21AC-8F18A19A229B}"/>
              </a:ext>
            </a:extLst>
          </p:cNvPr>
          <p:cNvSpPr txBox="1"/>
          <p:nvPr/>
        </p:nvSpPr>
        <p:spPr>
          <a:xfrm>
            <a:off x="4987159" y="3198167"/>
            <a:ext cx="1613338" cy="461665"/>
          </a:xfrm>
          <a:prstGeom prst="rect">
            <a:avLst/>
          </a:prstGeom>
          <a:noFill/>
        </p:spPr>
        <p:txBody>
          <a:bodyPr wrap="square">
            <a:spAutoFit/>
          </a:bodyPr>
          <a:lstStyle/>
          <a:p>
            <a:r>
              <a:rPr lang="en-US" sz="2400"/>
              <a:t>Thank you</a:t>
            </a:r>
            <a:endParaRPr lang="en-US" sz="2400" dirty="0"/>
          </a:p>
        </p:txBody>
      </p:sp>
    </p:spTree>
    <p:extLst>
      <p:ext uri="{BB962C8B-B14F-4D97-AF65-F5344CB8AC3E}">
        <p14:creationId xmlns:p14="http://schemas.microsoft.com/office/powerpoint/2010/main" val="2373960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3376</TotalTime>
  <Words>1996</Words>
  <Application>Microsoft Office PowerPoint</Application>
  <PresentationFormat>Widescreen</PresentationFormat>
  <Paragraphs>194</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Aptos Display</vt:lpstr>
      <vt:lpstr>Arial</vt:lpstr>
      <vt:lpstr>Courier New</vt:lpstr>
      <vt:lpstr>Script MT Bold</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 Suresh Adusumilli (BLINK INTERACTIVE INC)</dc:creator>
  <cp:lastModifiedBy>Naga Suresh Adusumilli (BLINK INTERACTIVE INC)</cp:lastModifiedBy>
  <cp:revision>2</cp:revision>
  <dcterms:created xsi:type="dcterms:W3CDTF">2026-02-06T01:00:30Z</dcterms:created>
  <dcterms:modified xsi:type="dcterms:W3CDTF">2026-06-29T23:12:27Z</dcterms:modified>
</cp:coreProperties>
</file>