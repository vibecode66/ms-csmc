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526" r:id="rId3"/>
    <p:sldId id="527" r:id="rId4"/>
    <p:sldId id="506" r:id="rId5"/>
    <p:sldId id="498" r:id="rId6"/>
    <p:sldId id="496" r:id="rId7"/>
    <p:sldId id="500" r:id="rId8"/>
    <p:sldId id="50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2B607E-8B3E-4F6B-A005-4685F9E633C7}" v="30" dt="2026-06-10T19:57:42.2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a Suresh Adusumilli (BLINK INTERACTIVE INC)" userId="6d52fdf7-f462-4887-b742-1971f867ec43" providerId="ADAL" clId="{F53E98C4-A6ED-412F-BFFE-E09D3C457B93}"/>
    <pc:docChg chg="modSld">
      <pc:chgData name="Naga Suresh Adusumilli (BLINK INTERACTIVE INC)" userId="6d52fdf7-f462-4887-b742-1971f867ec43" providerId="ADAL" clId="{F53E98C4-A6ED-412F-BFFE-E09D3C457B93}" dt="2026-06-10T20:08:16.558" v="15"/>
      <pc:docMkLst>
        <pc:docMk/>
      </pc:docMkLst>
      <pc:sldChg chg="addSp modSp">
        <pc:chgData name="Naga Suresh Adusumilli (BLINK INTERACTIVE INC)" userId="6d52fdf7-f462-4887-b742-1971f867ec43" providerId="ADAL" clId="{F53E98C4-A6ED-412F-BFFE-E09D3C457B93}" dt="2026-06-10T20:08:16.558" v="15"/>
        <pc:sldMkLst>
          <pc:docMk/>
          <pc:sldMk cId="2922446629" sldId="256"/>
        </pc:sldMkLst>
        <pc:spChg chg="mod">
          <ac:chgData name="Naga Suresh Adusumilli (BLINK INTERACTIVE INC)" userId="6d52fdf7-f462-4887-b742-1971f867ec43" providerId="ADAL" clId="{F53E98C4-A6ED-412F-BFFE-E09D3C457B93}" dt="2026-06-10T19:57:12.051" v="14"/>
          <ac:spMkLst>
            <pc:docMk/>
            <pc:sldMk cId="2922446629" sldId="256"/>
            <ac:spMk id="13" creationId="{AB3F7DFA-DD97-A22E-2800-696E1A372B9D}"/>
          </ac:spMkLst>
        </pc:spChg>
        <pc:spChg chg="add">
          <ac:chgData name="Naga Suresh Adusumilli (BLINK INTERACTIVE INC)" userId="6d52fdf7-f462-4887-b742-1971f867ec43" providerId="ADAL" clId="{F53E98C4-A6ED-412F-BFFE-E09D3C457B93}" dt="2026-06-10T20:08:16.558" v="15"/>
          <ac:spMkLst>
            <pc:docMk/>
            <pc:sldMk cId="2922446629" sldId="256"/>
            <ac:spMk id="17" creationId="{4F307537-88C2-58A2-FAB1-4B0C148569C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5257A-250D-25EF-ABF6-EF58F2C83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F82575-225F-21E2-A175-9F39198057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F7BFF-FDE5-46EF-669E-39E7C4F5C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2AD1-879A-4756-B527-A5CD6CF081A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CCDC1-BEC5-F446-D6BE-572455EAA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BF739-D978-9F3D-3ABF-FFBFDF1E9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8F9B-DDE5-4922-B342-EF053E01E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097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7D88C-724D-6A81-4DCB-FA5E65068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D90FE-EAA1-F1F5-ABBF-DF83FC3B0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72AAC-41C4-879E-87AF-6F0BE5A61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2AD1-879A-4756-B527-A5CD6CF081A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0C1C0-FE0B-A829-4AED-B8C447386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1D703-D23A-0359-92D1-21CA3F6BC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8F9B-DDE5-4922-B342-EF053E01E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154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DC7D1-5875-C665-7534-EFAEA436F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225B1-CD30-0C9A-34B1-08543AE78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4DEDC-3E7F-C18A-CCFF-9A9F2F532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2AD1-879A-4756-B527-A5CD6CF081A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AD64E-FABC-CD95-C17A-538417D6A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65B76-CAC8-0110-95A8-F725A0ECF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8F9B-DDE5-4922-B342-EF053E01E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44486-80F3-22FC-DC44-C2E40C2CB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3C349-A09C-62D3-C367-F4B48EDB1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94B39-BDB1-19C0-8E8A-DA1C878941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6EB39-6FF6-550C-B140-54B4B71AD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2AD1-879A-4756-B527-A5CD6CF081A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6CDD24-ECD4-C10D-F4EC-37C81783F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2FE76-3A2E-D474-FE90-710075A1B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8F9B-DDE5-4922-B342-EF053E01E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67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4C937-5FAE-2739-5A50-0D095E317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F0189-5CFE-673C-FB55-EDE543DE2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F52B6-882F-06B9-751E-980DFEB37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7218BB-5AC2-94BE-F4CE-7970AFCC74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8C734E-7367-0AE3-1074-BF4BEEBF75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1AA5CD-A387-73D0-ACBD-25E7C0E02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2AD1-879A-4756-B527-A5CD6CF081A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584C31-9B67-E0EF-6B79-DE010BAC2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6975F-0B63-42AB-7FCF-899184C19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8F9B-DDE5-4922-B342-EF053E01E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99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E2C03-35E4-3FBB-AF5C-72E19083B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4A7F30-0F26-12D2-7731-DDD8813DE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2AD1-879A-4756-B527-A5CD6CF081A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63CFCE-4D5B-951A-A308-FB25DB030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0C7C19-B17D-10D5-1C13-5560FA7CA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8F9B-DDE5-4922-B342-EF053E01E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19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B2A937-2678-5C14-4995-DF30AA077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2AD1-879A-4756-B527-A5CD6CF081A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BEFB49-C8E3-CA99-0ABD-34A6EF4C2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B5E91-9434-0D7F-7CC6-586D2D465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8F9B-DDE5-4922-B342-EF053E01E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386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860C3-5274-CA42-67FB-9886E532F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B9A78-4C0E-ADEC-6897-8CA2717D8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686708-6BC4-9846-4FDF-E85E07BFD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713CE-E427-2548-9B9B-F5FEBABAF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2AD1-879A-4756-B527-A5CD6CF081A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5A93D0-1C88-5E30-21C1-4750D4675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6395F-05C8-895E-D3FC-C024A2190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8F9B-DDE5-4922-B342-EF053E01E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317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39414-BFF6-6A85-0FEA-127FB4BDE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8619F8-9D8E-EDE9-3CAE-6DB09CC168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8FEC5-90C1-0DD7-8F81-5440ED32C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3FD36-E7DD-5B2F-3FB9-F56A6E848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2AD1-879A-4756-B527-A5CD6CF081A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2748B-1ED2-D4FD-BFE8-2CCE236D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66486-EA92-FB1B-A2FA-2CA65A75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8F9B-DDE5-4922-B342-EF053E01E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064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E0031-E72C-9BB1-EBAF-A4AC9969C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7F55BD-7F14-46A0-7460-AF3CFAC254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0C395-4391-D82B-0048-6724B1F01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2AD1-879A-4756-B527-A5CD6CF081A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5001E-5409-6DD6-A61B-607EF0513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A3913-F62A-937C-D7D3-BC6B716A1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8F9B-DDE5-4922-B342-EF053E01E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895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72AC15-FE6F-AAE4-8FA5-2F296AE8AB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01B980-8718-DB0E-E1FB-1C337ADCC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2D458-1FFD-09BF-1B40-712165753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2AD1-879A-4756-B527-A5CD6CF081A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84E24-F8B3-E5C7-880D-A6B916236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42C14-B10F-7B9A-18A5-B9238BEED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8F9B-DDE5-4922-B342-EF053E01E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27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10692-EE5C-36E8-0942-40BE520C3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3EEB2-3203-EE10-B52C-D592D132A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66AFA-D626-3ACD-6A54-CF7BA6F41A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A92AD1-879A-4756-B527-A5CD6CF081AB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877F9-D270-C1EE-B4DE-B82D46BBF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F13F8-FCD6-19DA-7811-CD54BBEE2A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948F9B-DDE5-4922-B342-EF053E01E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288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chatgpt.com/share/6a29c14b-5564-83e8-9452-cec185a7cce7" TargetMode="External"/><Relationship Id="rId3" Type="http://schemas.openxmlformats.org/officeDocument/2006/relationships/hyperlink" Target="https://chatgpt.com/c/699fb4b9-2f38-8332-8292-2026d6cb5dee" TargetMode="External"/><Relationship Id="rId7" Type="http://schemas.openxmlformats.org/officeDocument/2006/relationships/hyperlink" Target="https://chatgpt.com/share/6a29c031-0ee0-83e8-9772-4602fb4511ba" TargetMode="External"/><Relationship Id="rId2" Type="http://schemas.openxmlformats.org/officeDocument/2006/relationships/hyperlink" Target="https://chatgpt.com/c/699fad70-050c-832d-852a-7319318c5c75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hatgpt.com/share/6a29c01b-9e18-83e8-bcdc-207cdd371cf1" TargetMode="External"/><Relationship Id="rId5" Type="http://schemas.openxmlformats.org/officeDocument/2006/relationships/hyperlink" Target="https://chatgpt.com/share/6a29bffd-5524-83e8-9fa6-ef4205aea166" TargetMode="External"/><Relationship Id="rId4" Type="http://schemas.openxmlformats.org/officeDocument/2006/relationships/hyperlink" Target="https://chatgpt.com/share/6a29bfec-53c0-83e8-92e7-08513fd9ccd1" TargetMode="External"/><Relationship Id="rId9" Type="http://schemas.openxmlformats.org/officeDocument/2006/relationships/hyperlink" Target="https://chatgpt.com/share/6a29c177-17f0-83e8-8274-4b41218d9562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D73A0FA-3A3B-7C49-60AF-002A930D0272}"/>
              </a:ext>
            </a:extLst>
          </p:cNvPr>
          <p:cNvSpPr txBox="1"/>
          <p:nvPr/>
        </p:nvSpPr>
        <p:spPr>
          <a:xfrm>
            <a:off x="673100" y="326936"/>
            <a:ext cx="8978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Which of the sub reasons are causing the highest dispersion (distortion).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C4DBA2-00BB-A7DE-33FC-0E2BE1F257BE}"/>
              </a:ext>
            </a:extLst>
          </p:cNvPr>
          <p:cNvSpPr txBox="1"/>
          <p:nvPr/>
        </p:nvSpPr>
        <p:spPr>
          <a:xfrm>
            <a:off x="545241" y="5697150"/>
            <a:ext cx="6094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Measuring Distortion in Data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BACB43-60A4-BE83-5B30-6ECDA112BB37}"/>
              </a:ext>
            </a:extLst>
          </p:cNvPr>
          <p:cNvSpPr txBox="1"/>
          <p:nvPr/>
        </p:nvSpPr>
        <p:spPr>
          <a:xfrm>
            <a:off x="483458" y="5202880"/>
            <a:ext cx="6094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MAD in Data Distortion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307537-88C2-58A2-FAB1-4B0C148569C5}"/>
              </a:ext>
            </a:extLst>
          </p:cNvPr>
          <p:cNvSpPr txBox="1"/>
          <p:nvPr/>
        </p:nvSpPr>
        <p:spPr>
          <a:xfrm>
            <a:off x="3047485" y="1720840"/>
            <a:ext cx="609497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https://chatgpt.com/share/6a29bfec-53c0-83e8-92e7-08513fd9ccd1</a:t>
            </a:r>
            <a:r>
              <a:rPr lang="en-US" dirty="0"/>
              <a:t> </a:t>
            </a:r>
            <a:r>
              <a:rPr lang="en-US" dirty="0">
                <a:hlinkClick r:id="rId5"/>
              </a:rPr>
              <a:t>https://chatgpt.com/share/6a29bffd-5524-83e8-9fa6-ef4205aea166</a:t>
            </a:r>
            <a:r>
              <a:rPr lang="en-US" dirty="0"/>
              <a:t> </a:t>
            </a:r>
            <a:r>
              <a:rPr lang="en-US" dirty="0">
                <a:hlinkClick r:id="rId6"/>
              </a:rPr>
              <a:t>https://chatgpt.com/share/6a29c01b-9e18-83e8-bcdc-207cdd371cf1</a:t>
            </a:r>
            <a:r>
              <a:rPr lang="en-US" dirty="0"/>
              <a:t> </a:t>
            </a:r>
            <a:r>
              <a:rPr lang="en-US" dirty="0">
                <a:hlinkClick r:id="rId7"/>
              </a:rPr>
              <a:t>https://chatgpt.com/share/6a29c031-0ee0-83e8-9772-4602fb4511ba</a:t>
            </a:r>
            <a:r>
              <a:rPr lang="en-US" dirty="0"/>
              <a:t> </a:t>
            </a:r>
            <a:r>
              <a:rPr lang="en-US" dirty="0">
                <a:hlinkClick r:id="rId8"/>
              </a:rPr>
              <a:t>https://chatgpt.com/share/6a29c14b-5564-83e8-9452-cec185a7cce7</a:t>
            </a:r>
            <a:r>
              <a:rPr lang="en-US" dirty="0"/>
              <a:t> </a:t>
            </a:r>
            <a:r>
              <a:rPr lang="en-US" dirty="0">
                <a:hlinkClick r:id="rId9"/>
              </a:rPr>
              <a:t>https://chatgpt.com/share/6a29c177-17f0-83e8-8274-4b41218d9562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https://chatgpt.com/c/699fb4b9-2f38-8332-8292-2026d6cb5dee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https://chatgpt.com/c/699fad70-050c-832d-852a-7319318c5c75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446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416DF-6736-F970-6A61-5CECBC9DB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BF503A-C502-7318-3D39-DD90261A1CB5}"/>
              </a:ext>
            </a:extLst>
          </p:cNvPr>
          <p:cNvSpPr txBox="1"/>
          <p:nvPr/>
        </p:nvSpPr>
        <p:spPr>
          <a:xfrm>
            <a:off x="673100" y="326936"/>
            <a:ext cx="89789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These are the top 15 combinations ranked based on a robust distortion score derived from relative dispersion (MAD/Median) and tail heaviness (log(P95/Median)).</a:t>
            </a:r>
          </a:p>
          <a:p>
            <a:r>
              <a:rPr lang="en-US" b="1" dirty="0"/>
              <a:t> </a:t>
            </a:r>
          </a:p>
          <a:p>
            <a:r>
              <a:rPr lang="en-US" b="1" dirty="0"/>
              <a:t>The ranking is derived by evaluating how much each combination’s case times vary around their typical value (median) and how extreme the upper-end delays are compared to other combinations.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0E0FBC-24C0-83A3-2F74-B704F950E9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2197804"/>
            <a:ext cx="10883900" cy="4243593"/>
          </a:xfrm>
          <a:prstGeom prst="rect">
            <a:avLst/>
          </a:prstGeom>
        </p:spPr>
      </p:pic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70E8B0C-A74E-F8F0-CEB6-F34A5E4918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07600" y="543603"/>
          <a:ext cx="1371600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showAsIcon="1" r:id="rId3" imgW="914400" imgH="806585" progId="Excel.SheetMacroEnabled.12">
                  <p:embed/>
                </p:oleObj>
              </mc:Choice>
              <mc:Fallback>
                <p:oleObj name="Macro-Enabled Worksheet" showAsIcon="1" r:id="rId3" imgW="914400" imgH="806585" progId="Excel.SheetMacroEnabled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B70E8B0C-A74E-F8F0-CEB6-F34A5E4918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007600" y="543603"/>
                        <a:ext cx="1371600" cy="1209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3244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BC8364-48AF-ACA1-5724-7F40D3AB6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00" y="897847"/>
            <a:ext cx="7899400" cy="58279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579B9A-1CAC-451F-A403-F9A35743FC51}"/>
              </a:ext>
            </a:extLst>
          </p:cNvPr>
          <p:cNvSpPr txBox="1"/>
          <p:nvPr/>
        </p:nvSpPr>
        <p:spPr>
          <a:xfrm>
            <a:off x="-178001" y="132224"/>
            <a:ext cx="7899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Comparison plot and their distribution for some ranks from 1 to 99.</a:t>
            </a:r>
          </a:p>
          <a:p>
            <a:pPr algn="ctr"/>
            <a:r>
              <a:rPr lang="en-US" b="1" dirty="0"/>
              <a:t>Rank#1 high distortion and Rank#99 low distortion)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4A9297-4373-3BB0-6092-39A0BBC09DF9}"/>
              </a:ext>
            </a:extLst>
          </p:cNvPr>
          <p:cNvSpPr txBox="1"/>
          <p:nvPr/>
        </p:nvSpPr>
        <p:spPr>
          <a:xfrm>
            <a:off x="8927899" y="1750249"/>
            <a:ext cx="20957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u="sng" dirty="0"/>
              <a:t>Characteristics  of ideal violin plot </a:t>
            </a:r>
          </a:p>
          <a:p>
            <a:pPr>
              <a:buNone/>
            </a:pPr>
            <a:endParaRPr lang="en-US" sz="1600" b="1" dirty="0"/>
          </a:p>
          <a:p>
            <a:pPr>
              <a:buFont typeface="+mj-lt"/>
              <a:buAutoNum type="arabicPeriod"/>
            </a:pPr>
            <a:r>
              <a:rPr lang="en-US" sz="1600" b="1" dirty="0"/>
              <a:t> Symmetric distribution : Mean &amp; Median close</a:t>
            </a:r>
          </a:p>
          <a:p>
            <a:pPr>
              <a:buFont typeface="+mj-lt"/>
              <a:buAutoNum type="arabicPeriod"/>
            </a:pPr>
            <a:endParaRPr lang="en-US" sz="1600" b="1" dirty="0"/>
          </a:p>
          <a:p>
            <a:pPr>
              <a:buFont typeface="+mj-lt"/>
              <a:buAutoNum type="arabicPeriod"/>
            </a:pPr>
            <a:r>
              <a:rPr lang="en-US" sz="1600" b="1" dirty="0"/>
              <a:t>Centrally concentrated : Highest peak at mean</a:t>
            </a:r>
          </a:p>
          <a:p>
            <a:pPr>
              <a:buFont typeface="+mj-lt"/>
              <a:buAutoNum type="arabicPeriod"/>
            </a:pPr>
            <a:endParaRPr lang="en-US" sz="1600" b="1" dirty="0"/>
          </a:p>
          <a:p>
            <a:pPr>
              <a:buFont typeface="+mj-lt"/>
              <a:buAutoNum type="arabicPeriod"/>
            </a:pPr>
            <a:r>
              <a:rPr lang="en-US" sz="1600" b="1" dirty="0"/>
              <a:t>Low skewness: Short tails</a:t>
            </a:r>
          </a:p>
          <a:p>
            <a:pPr>
              <a:buFont typeface="+mj-lt"/>
              <a:buAutoNum type="arabicPeriod"/>
            </a:pPr>
            <a:endParaRPr lang="en-US" sz="1600" b="1" dirty="0"/>
          </a:p>
          <a:p>
            <a:pPr>
              <a:buFont typeface="+mj-lt"/>
              <a:buAutoNum type="arabicPeriod"/>
            </a:pPr>
            <a:r>
              <a:rPr lang="en-US" sz="1600" b="1" dirty="0"/>
              <a:t>Single dominant peak : Less number of peaks</a:t>
            </a:r>
          </a:p>
        </p:txBody>
      </p:sp>
    </p:spTree>
    <p:extLst>
      <p:ext uri="{BB962C8B-B14F-4D97-AF65-F5344CB8AC3E}">
        <p14:creationId xmlns:p14="http://schemas.microsoft.com/office/powerpoint/2010/main" val="2923165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709B25-14BE-D3E1-0C90-B3E19B4B6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179" y="3207878"/>
            <a:ext cx="2983821" cy="17490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9FB457-2F61-DBFF-A7AE-A22B6A071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179" y="1178560"/>
            <a:ext cx="2983821" cy="1759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376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5B0DF85-179E-9BBB-FB67-4415A95D8CF2}"/>
              </a:ext>
            </a:extLst>
          </p:cNvPr>
          <p:cNvGraphicFramePr>
            <a:graphicFrameLocks noGrp="1"/>
          </p:cNvGraphicFramePr>
          <p:nvPr/>
        </p:nvGraphicFramePr>
        <p:xfrm>
          <a:off x="1389344" y="643467"/>
          <a:ext cx="9413313" cy="55710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93756">
                  <a:extLst>
                    <a:ext uri="{9D8B030D-6E8A-4147-A177-3AD203B41FA5}">
                      <a16:colId xmlns:a16="http://schemas.microsoft.com/office/drawing/2014/main" val="1621416564"/>
                    </a:ext>
                  </a:extLst>
                </a:gridCol>
                <a:gridCol w="6319557">
                  <a:extLst>
                    <a:ext uri="{9D8B030D-6E8A-4147-A177-3AD203B41FA5}">
                      <a16:colId xmlns:a16="http://schemas.microsoft.com/office/drawing/2014/main" val="3880909220"/>
                    </a:ext>
                  </a:extLst>
                </a:gridCol>
              </a:tblGrid>
              <a:tr h="365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Metric</a:t>
                      </a:r>
                    </a:p>
                  </a:txBody>
                  <a:tcPr marL="81209" marR="81209" marT="40605" marB="40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What It Shows</a:t>
                      </a:r>
                    </a:p>
                  </a:txBody>
                  <a:tcPr marL="81209" marR="81209" marT="40605" marB="40605" anchor="ctr"/>
                </a:tc>
                <a:extLst>
                  <a:ext uri="{0D108BD9-81ED-4DB2-BD59-A6C34878D82A}">
                    <a16:rowId xmlns:a16="http://schemas.microsoft.com/office/drawing/2014/main" val="2587708934"/>
                  </a:ext>
                </a:extLst>
              </a:tr>
              <a:tr h="606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Median (P50)</a:t>
                      </a:r>
                      <a:endParaRPr lang="en-US" sz="1600"/>
                    </a:p>
                  </a:txBody>
                  <a:tcPr marL="81209" marR="81209" marT="40605" marB="40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The central value of the data. 50% of values are below it. Robust to outliers.</a:t>
                      </a:r>
                    </a:p>
                  </a:txBody>
                  <a:tcPr marL="81209" marR="81209" marT="40605" marB="40605" anchor="ctr"/>
                </a:tc>
                <a:extLst>
                  <a:ext uri="{0D108BD9-81ED-4DB2-BD59-A6C34878D82A}">
                    <a16:rowId xmlns:a16="http://schemas.microsoft.com/office/drawing/2014/main" val="2115871877"/>
                  </a:ext>
                </a:extLst>
              </a:tr>
              <a:tr h="846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MAD (Mean Absolute Deviation)</a:t>
                      </a:r>
                      <a:endParaRPr lang="en-US" sz="1600"/>
                    </a:p>
                  </a:txBody>
                  <a:tcPr marL="81209" marR="81209" marT="40605" marB="40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Average absolute distance from the mean. Shows overall spread of data. Lower MAD = tighter clustering.</a:t>
                      </a:r>
                    </a:p>
                  </a:txBody>
                  <a:tcPr marL="81209" marR="81209" marT="40605" marB="40605" anchor="ctr"/>
                </a:tc>
                <a:extLst>
                  <a:ext uri="{0D108BD9-81ED-4DB2-BD59-A6C34878D82A}">
                    <a16:rowId xmlns:a16="http://schemas.microsoft.com/office/drawing/2014/main" val="3948615790"/>
                  </a:ext>
                </a:extLst>
              </a:tr>
              <a:tr h="846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IQR (Interquartile Range)</a:t>
                      </a:r>
                      <a:endParaRPr lang="en-US" sz="1600" dirty="0"/>
                    </a:p>
                  </a:txBody>
                  <a:tcPr marL="81209" marR="81209" marT="40605" marB="40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Spread of the middle 50% of data (Q3 − Q1). Measures variability without influence from extreme values.</a:t>
                      </a:r>
                    </a:p>
                  </a:txBody>
                  <a:tcPr marL="81209" marR="81209" marT="40605" marB="40605" anchor="ctr"/>
                </a:tc>
                <a:extLst>
                  <a:ext uri="{0D108BD9-81ED-4DB2-BD59-A6C34878D82A}">
                    <a16:rowId xmlns:a16="http://schemas.microsoft.com/office/drawing/2014/main" val="3327479699"/>
                  </a:ext>
                </a:extLst>
              </a:tr>
              <a:tr h="606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P95 (95th Percentile)</a:t>
                      </a:r>
                      <a:endParaRPr lang="en-US" sz="1600"/>
                    </a:p>
                  </a:txBody>
                  <a:tcPr marL="81209" marR="81209" marT="40605" marB="40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Value below which 95% of observations fall. Shows upper-tail behavior and extreme high values.</a:t>
                      </a:r>
                    </a:p>
                  </a:txBody>
                  <a:tcPr marL="81209" marR="81209" marT="40605" marB="40605" anchor="ctr"/>
                </a:tc>
                <a:extLst>
                  <a:ext uri="{0D108BD9-81ED-4DB2-BD59-A6C34878D82A}">
                    <a16:rowId xmlns:a16="http://schemas.microsoft.com/office/drawing/2014/main" val="3234170325"/>
                  </a:ext>
                </a:extLst>
              </a:tr>
              <a:tr h="606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P50 (50th Percentile)</a:t>
                      </a:r>
                      <a:endParaRPr lang="en-US" sz="1600"/>
                    </a:p>
                  </a:txBody>
                  <a:tcPr marL="81209" marR="81209" marT="40605" marB="40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Same as median. Represents the typical/central value.</a:t>
                      </a:r>
                    </a:p>
                  </a:txBody>
                  <a:tcPr marL="81209" marR="81209" marT="40605" marB="40605" anchor="ctr"/>
                </a:tc>
                <a:extLst>
                  <a:ext uri="{0D108BD9-81ED-4DB2-BD59-A6C34878D82A}">
                    <a16:rowId xmlns:a16="http://schemas.microsoft.com/office/drawing/2014/main" val="835203732"/>
                  </a:ext>
                </a:extLst>
              </a:tr>
              <a:tr h="846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MAD / Median</a:t>
                      </a:r>
                      <a:endParaRPr lang="en-US" sz="1600"/>
                    </a:p>
                  </a:txBody>
                  <a:tcPr marL="81209" marR="81209" marT="40605" marB="40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Relative dispersion. Normalizes spread against central value. Higher ratio = more variability relative to scale.</a:t>
                      </a:r>
                    </a:p>
                  </a:txBody>
                  <a:tcPr marL="81209" marR="81209" marT="40605" marB="40605" anchor="ctr"/>
                </a:tc>
                <a:extLst>
                  <a:ext uri="{0D108BD9-81ED-4DB2-BD59-A6C34878D82A}">
                    <a16:rowId xmlns:a16="http://schemas.microsoft.com/office/drawing/2014/main" val="320730326"/>
                  </a:ext>
                </a:extLst>
              </a:tr>
              <a:tr h="846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P95 / P50</a:t>
                      </a:r>
                      <a:endParaRPr lang="en-US" sz="1600"/>
                    </a:p>
                  </a:txBody>
                  <a:tcPr marL="81209" marR="81209" marT="40605" marB="406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Tail heaviness indicator. Shows how extreme the upper tail is compared to typical value. Higher ratio = skewed or heavy-tailed distribution.</a:t>
                      </a:r>
                    </a:p>
                  </a:txBody>
                  <a:tcPr marL="81209" marR="81209" marT="40605" marB="40605" anchor="ctr"/>
                </a:tc>
                <a:extLst>
                  <a:ext uri="{0D108BD9-81ED-4DB2-BD59-A6C34878D82A}">
                    <a16:rowId xmlns:a16="http://schemas.microsoft.com/office/drawing/2014/main" val="3671564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957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D4041D-27E0-A2AD-2946-844F084373E7}"/>
              </a:ext>
            </a:extLst>
          </p:cNvPr>
          <p:cNvSpPr txBox="1"/>
          <p:nvPr/>
        </p:nvSpPr>
        <p:spPr>
          <a:xfrm>
            <a:off x="864798" y="604651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robust dispersion measures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BB8748-159A-CA09-4F82-87AF41933449}"/>
              </a:ext>
            </a:extLst>
          </p:cNvPr>
          <p:cNvSpPr txBox="1"/>
          <p:nvPr/>
        </p:nvSpPr>
        <p:spPr>
          <a:xfrm>
            <a:off x="864798" y="1532012"/>
            <a:ext cx="4483579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We compute dispersion per combination.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n</a:t>
            </a:r>
            <a:r>
              <a:rPr lang="en-US" dirty="0"/>
              <a:t> → record count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median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MAD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>
                <a:latin typeface="Courier New" panose="02070309020205020404" pitchFamily="49" charset="0"/>
              </a:rPr>
              <a:t>Low – Tight clustering otherwise dispersed</a:t>
            </a:r>
            <a:endParaRPr lang="en-US" sz="11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IQR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P95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P50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MAD/median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P95/P50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47536B-9D89-EC61-527D-D531CAC979EA}"/>
                  </a:ext>
                </a:extLst>
              </p:cNvPr>
              <p:cNvSpPr txBox="1"/>
              <p:nvPr/>
            </p:nvSpPr>
            <p:spPr>
              <a:xfrm>
                <a:off x="5831456" y="1877069"/>
                <a:ext cx="5201729" cy="2578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🔹 Step 2 — Build a Distortion Score</a:t>
                </a:r>
              </a:p>
              <a:p>
                <a:pPr>
                  <a:buNone/>
                </a:pPr>
                <a:r>
                  <a:rPr lang="en-US" dirty="0"/>
                  <a:t>For ranking, use: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b="0" i="0"/>
                        <m:t>𝐃𝐢𝐬𝐭𝐨𝐫𝐭𝐢𝐨𝐧𝐒𝐜𝐨𝐫𝐞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𝑀𝐴𝐷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𝑚𝑒𝑑𝑖𝑎𝑛</m:t>
                          </m:r>
                        </m:e>
                      </m:d>
                      <m:r>
                        <a:rPr lang="ar-AE" b="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95/</m:t>
                          </m:r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𝑚𝑒𝑑𝑖𝑎𝑛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  <a:p>
                <a:pPr>
                  <a:buNone/>
                </a:pPr>
                <a:r>
                  <a:rPr lang="en-US" dirty="0"/>
                  <a:t>This captures: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Core variability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Tail heaviness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Robust to outliers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Relative (scale independent)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47536B-9D89-EC61-527D-D531CAC97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1456" y="1877069"/>
                <a:ext cx="5201729" cy="2578976"/>
              </a:xfrm>
              <a:prstGeom prst="rect">
                <a:avLst/>
              </a:prstGeom>
              <a:blipFill>
                <a:blip r:embed="rId2"/>
                <a:stretch>
                  <a:fillRect l="-1055" t="-1655" b="-3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1789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005B5E-60B6-0A8E-5A72-89921B2B853D}"/>
              </a:ext>
            </a:extLst>
          </p:cNvPr>
          <p:cNvSpPr txBox="1"/>
          <p:nvPr/>
        </p:nvSpPr>
        <p:spPr>
          <a:xfrm>
            <a:off x="1625600" y="1301234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DistortionScore</a:t>
            </a:r>
            <a:r>
              <a:rPr lang="en-US" dirty="0"/>
              <a:t>=(MAD/median)+log(P95/median)</a:t>
            </a:r>
          </a:p>
          <a:p>
            <a:r>
              <a:rPr lang="en-US" dirty="0"/>
              <a:t>This captures:</a:t>
            </a:r>
          </a:p>
          <a:p>
            <a:r>
              <a:rPr lang="en-US" dirty="0"/>
              <a:t>Core variability</a:t>
            </a:r>
          </a:p>
          <a:p>
            <a:r>
              <a:rPr lang="en-US" dirty="0"/>
              <a:t>Tail heaviness</a:t>
            </a:r>
          </a:p>
          <a:p>
            <a:r>
              <a:rPr lang="en-US" dirty="0"/>
              <a:t>Robust to outliers</a:t>
            </a:r>
          </a:p>
          <a:p>
            <a:r>
              <a:rPr lang="en-US" dirty="0"/>
              <a:t>Relative (scale independent)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Higher distortion is not good distribution.</a:t>
            </a:r>
          </a:p>
          <a:p>
            <a:r>
              <a:rPr lang="en-US" dirty="0"/>
              <a:t>Lower distortion represents better distribution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36E596-3660-77CC-7A97-C455BB625662}"/>
              </a:ext>
            </a:extLst>
          </p:cNvPr>
          <p:cNvSpPr txBox="1"/>
          <p:nvPr/>
        </p:nvSpPr>
        <p:spPr>
          <a:xfrm>
            <a:off x="1703238" y="465906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 ≥ 500 to 800</a:t>
            </a:r>
          </a:p>
          <a:p>
            <a:endParaRPr lang="en-US" dirty="0"/>
          </a:p>
          <a:p>
            <a:r>
              <a:rPr lang="en-US" dirty="0"/>
              <a:t>Rank them from top distortion to lowest distortion</a:t>
            </a:r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9926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0B609D-04AB-780A-288B-43B4CDA3C2BE}"/>
              </a:ext>
            </a:extLst>
          </p:cNvPr>
          <p:cNvGraphicFramePr>
            <a:graphicFrameLocks noGrp="1"/>
          </p:cNvGraphicFramePr>
          <p:nvPr/>
        </p:nvGraphicFramePr>
        <p:xfrm>
          <a:off x="980440" y="1430814"/>
          <a:ext cx="10515600" cy="29260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43679194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886887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Plot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9186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Box Plot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Quickly shows spread, median, IQR, and outliers. Best first diagnostic.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253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Histogram (or KDE)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Shows distribution shape and skewness. Reveals tail stretch.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615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Violin Plot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Combines density + boxplot. Good for comparing multiple groups visually.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9331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ECDF Plot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Clearly shows tail behavior (how fast values accumulate).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743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9311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558</Words>
  <Application>Microsoft Office PowerPoint</Application>
  <PresentationFormat>Widescreen</PresentationFormat>
  <Paragraphs>77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Courier New</vt:lpstr>
      <vt:lpstr>Office Theme</vt:lpstr>
      <vt:lpstr>Macro-Enabled 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Suresh Adusumilli (BLINK INTERACTIVE INC)</dc:creator>
  <cp:lastModifiedBy>Naga Suresh Adusumilli (BLINK INTERACTIVE INC)</cp:lastModifiedBy>
  <cp:revision>1</cp:revision>
  <dcterms:created xsi:type="dcterms:W3CDTF">2026-06-10T19:41:14Z</dcterms:created>
  <dcterms:modified xsi:type="dcterms:W3CDTF">2026-07-01T05:34:08Z</dcterms:modified>
</cp:coreProperties>
</file>