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76" r:id="rId2"/>
    <p:sldId id="475" r:id="rId3"/>
    <p:sldId id="48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4" d="100"/>
          <a:sy n="74" d="100"/>
        </p:scale>
        <p:origin x="26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A9A43-4ECC-AEB3-392E-F351695874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C81118-DD9D-E99C-1A4C-559E3BAAFD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99656-744C-0CCC-5337-CE16142D9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9C64-23EE-4182-BC9F-A62B02A29E7B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B5581-9C99-4676-80AC-13B060BDF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32C73-5BD9-4F9F-1562-FB3140CAB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3B26D-1757-4843-A6C7-91D4B352E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605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7BDFC-C28A-570C-F781-ED4AE0BB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A6BEB-B6D7-DD6B-B179-4B4DBB9E8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2E483-17F8-F145-A9D3-8F01DAF63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9C64-23EE-4182-BC9F-A62B02A29E7B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AE514-D569-CC49-3172-E2909B535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8E8D2-1DAC-1AEA-EFCF-57E34F054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3B26D-1757-4843-A6C7-91D4B352E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41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B3671-6F22-11A5-4FCB-33A88F79C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AFCBE-5C9A-E6AF-234F-58A8A9FE6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D17A5-5465-44DF-98ED-E14A102CF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9C64-23EE-4182-BC9F-A62B02A29E7B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7E296-6898-857A-8B88-5D10794D1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DA4A9-2622-49F5-BDA5-3DB1D693A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3B26D-1757-4843-A6C7-91D4B352E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27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B92E2-D61F-C481-AD6F-90F744FB4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5EF7E-99A9-DDAC-35ED-3FC45B10F8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4DDB4-3D19-0393-7FDC-1B22A86DD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53215-1243-C476-6D28-E987C432B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9C64-23EE-4182-BC9F-A62B02A29E7B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F453A-3808-AD26-6741-C6D8B586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D4794-5BCE-BA6D-2244-7E67050EB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3B26D-1757-4843-A6C7-91D4B352E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2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C1285-F21D-E2B9-F7D1-4EBEC93DC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BD070-528E-2F48-D82E-15E8900AE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4E6593-2EDE-0430-C42A-C88036AB0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50C41-5B39-4478-FDB5-D160CCDB91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25C411-F5A7-467E-6D12-2068309C2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0A52E-6FB8-D0C9-86E9-F7EBA7439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9C64-23EE-4182-BC9F-A62B02A29E7B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E1B6F-E274-EB8E-3491-755548E9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91F16C-B789-0110-CC54-E1F8D0F9E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3B26D-1757-4843-A6C7-91D4B352E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320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28332-A448-DD64-46A7-D2831EFF0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3253C-3A85-780D-1EC1-6EA4F1C27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9C64-23EE-4182-BC9F-A62B02A29E7B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96FE84-5901-1159-3A5B-C0FC63E74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080B1-A0B8-699E-670B-64BA9F128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3B26D-1757-4843-A6C7-91D4B352E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849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3D1A62-67CB-AEE4-E4F4-E7210CA42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9C64-23EE-4182-BC9F-A62B02A29E7B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0C114D-E230-2B95-BA2F-9EA57E182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710BE-FEAC-487F-B51E-EE198AA44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3B26D-1757-4843-A6C7-91D4B352E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81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7FE47-E22E-57B1-CC5D-39BA37416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2CE5E-915B-CF96-DA5B-A313CA909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6F812-BF8D-F3CB-12EE-D9B030D41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5871B-CB63-68BB-7749-2B5E8E42F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9C64-23EE-4182-BC9F-A62B02A29E7B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78284-1590-DF7F-9E65-FF16D5E14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8610A-858B-D4A8-DB45-9B2D7277C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3B26D-1757-4843-A6C7-91D4B352E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727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7643D-BCF2-1F6D-F8A9-42EFCA74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C5E83F-5A2F-C248-BF48-70E34A91C3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8895A9-673C-164E-757F-DB0479253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929D4-0C23-C741-C11F-8D2BCAAC3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9C64-23EE-4182-BC9F-A62B02A29E7B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93027-A265-DF5D-563B-3E088AA47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9F93B-2A9C-8F35-FEEE-E48C436D8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3B26D-1757-4843-A6C7-91D4B352E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12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27B32-9203-056F-651B-9CDA9D661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FDD9B7-4338-DA2F-44DB-4450F9409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41434-0775-A516-CDBB-ED60EF2E3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9C64-23EE-4182-BC9F-A62B02A29E7B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D4A5D-CD0C-312C-4C2A-2609E60E1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A14E-40ED-9CC6-A10E-1F24E8FE3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3B26D-1757-4843-A6C7-91D4B352E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69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8D0859-7231-0777-B548-4C7E24DF4A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E16F3-7A5C-AFF7-8817-C4172F2DF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15E1A-A2F4-0100-E072-661FB86AB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9C64-23EE-4182-BC9F-A62B02A29E7B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42E1E-363D-A682-BC21-BB8FC5E4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E636E-0777-9BB4-9241-AE3E39A29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3B26D-1757-4843-A6C7-91D4B352E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433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F6F655-38BB-F27E-3FF3-B9EF9051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039B2-A174-28E8-9245-894FAFCF3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999A2-A197-96FF-6E61-6850F27FF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D69C64-23EE-4182-BC9F-A62B02A29E7B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CBB1E-B6E3-7A99-9E4C-907CFF0A43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D5158-AE96-C7D5-1900-A289EBF76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3B26D-1757-4843-A6C7-91D4B352E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095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95294E-741E-CF99-A510-8A9AC4039128}"/>
              </a:ext>
            </a:extLst>
          </p:cNvPr>
          <p:cNvGraphicFramePr>
            <a:graphicFrameLocks noGrp="1"/>
          </p:cNvGraphicFramePr>
          <p:nvPr/>
        </p:nvGraphicFramePr>
        <p:xfrm>
          <a:off x="660719" y="2657130"/>
          <a:ext cx="10208563" cy="402953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83408">
                  <a:extLst>
                    <a:ext uri="{9D8B030D-6E8A-4147-A177-3AD203B41FA5}">
                      <a16:colId xmlns:a16="http://schemas.microsoft.com/office/drawing/2014/main" val="3170983862"/>
                    </a:ext>
                  </a:extLst>
                </a:gridCol>
                <a:gridCol w="1601887">
                  <a:extLst>
                    <a:ext uri="{9D8B030D-6E8A-4147-A177-3AD203B41FA5}">
                      <a16:colId xmlns:a16="http://schemas.microsoft.com/office/drawing/2014/main" val="3244872169"/>
                    </a:ext>
                  </a:extLst>
                </a:gridCol>
                <a:gridCol w="1512249">
                  <a:extLst>
                    <a:ext uri="{9D8B030D-6E8A-4147-A177-3AD203B41FA5}">
                      <a16:colId xmlns:a16="http://schemas.microsoft.com/office/drawing/2014/main" val="3279702188"/>
                    </a:ext>
                  </a:extLst>
                </a:gridCol>
                <a:gridCol w="1440612">
                  <a:extLst>
                    <a:ext uri="{9D8B030D-6E8A-4147-A177-3AD203B41FA5}">
                      <a16:colId xmlns:a16="http://schemas.microsoft.com/office/drawing/2014/main" val="2406658440"/>
                    </a:ext>
                  </a:extLst>
                </a:gridCol>
                <a:gridCol w="2427058">
                  <a:extLst>
                    <a:ext uri="{9D8B030D-6E8A-4147-A177-3AD203B41FA5}">
                      <a16:colId xmlns:a16="http://schemas.microsoft.com/office/drawing/2014/main" val="27391559"/>
                    </a:ext>
                  </a:extLst>
                </a:gridCol>
                <a:gridCol w="2343349">
                  <a:extLst>
                    <a:ext uri="{9D8B030D-6E8A-4147-A177-3AD203B41FA5}">
                      <a16:colId xmlns:a16="http://schemas.microsoft.com/office/drawing/2014/main" val="2457076033"/>
                    </a:ext>
                  </a:extLst>
                </a:gridCol>
              </a:tblGrid>
              <a:tr h="8015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Window</a:t>
                      </a:r>
                    </a:p>
                  </a:txBody>
                  <a:tcPr marL="174441" marR="104665" marT="104665" marB="104665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Start Time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End Time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Duration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Reasons Involved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Overlap Type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1130"/>
                  </a:ext>
                </a:extLst>
              </a:tr>
              <a:tr h="546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</a:t>
                      </a:r>
                      <a:endParaRPr 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74441" marR="104665" marT="104665" marB="104665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1/2/25 04:40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1/2/25 23:05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18h 25m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Need Info → Signature Form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No Overlap (Sequential Change)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640775"/>
                  </a:ext>
                </a:extLst>
              </a:tr>
              <a:tr h="5014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</a:t>
                      </a:r>
                      <a:endParaRPr 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74441" marR="104665" marT="104665" marB="104665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1/2/25 19:13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1/8/25 06:47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5d 11h 34m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Need Info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Low Overlap (Single Reason, overlaps Window A timeline partially)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348386"/>
                  </a:ext>
                </a:extLst>
              </a:tr>
              <a:tr h="8015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</a:t>
                      </a:r>
                      <a:endParaRPr 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74441" marR="104665" marT="104665" marB="104665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1/8/25 17:07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1/15/25 16:18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6d 23h 11m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Agreement Compliance, Compliance, Form, Need Info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Heavy / Complex Overlap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860797"/>
                  </a:ext>
                </a:extLst>
              </a:tr>
              <a:tr h="546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</a:t>
                      </a:r>
                      <a:endParaRPr lang="en-US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74441" marR="104665" marT="104665" marB="104665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1/15/25 17:32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1/15/25 19:02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1h 30m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Compliance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No Overlap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739736"/>
                  </a:ext>
                </a:extLst>
              </a:tr>
              <a:tr h="5466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</a:t>
                      </a:r>
                      <a:endParaRPr 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74441" marR="104665" marT="104665" marB="104665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1/15/25 22:57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1/18/25 05:08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2d 6h 11m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Need Info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No Overlap</a:t>
                      </a:r>
                    </a:p>
                  </a:txBody>
                  <a:tcPr marL="174441" marR="104665" marT="104665" marB="10466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0959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FB0DE38-B9CB-0BCE-9411-8318A966DDF0}"/>
              </a:ext>
            </a:extLst>
          </p:cNvPr>
          <p:cNvGraphicFramePr>
            <a:graphicFrameLocks noGrp="1"/>
          </p:cNvGraphicFramePr>
          <p:nvPr/>
        </p:nvGraphicFramePr>
        <p:xfrm>
          <a:off x="660718" y="287867"/>
          <a:ext cx="10208562" cy="2168066"/>
        </p:xfrm>
        <a:graphic>
          <a:graphicData uri="http://schemas.openxmlformats.org/drawingml/2006/table">
            <a:tbl>
              <a:tblPr/>
              <a:tblGrid>
                <a:gridCol w="1288849">
                  <a:extLst>
                    <a:ext uri="{9D8B030D-6E8A-4147-A177-3AD203B41FA5}">
                      <a16:colId xmlns:a16="http://schemas.microsoft.com/office/drawing/2014/main" val="3642748596"/>
                    </a:ext>
                  </a:extLst>
                </a:gridCol>
                <a:gridCol w="2872595">
                  <a:extLst>
                    <a:ext uri="{9D8B030D-6E8A-4147-A177-3AD203B41FA5}">
                      <a16:colId xmlns:a16="http://schemas.microsoft.com/office/drawing/2014/main" val="1743159301"/>
                    </a:ext>
                  </a:extLst>
                </a:gridCol>
                <a:gridCol w="1026544">
                  <a:extLst>
                    <a:ext uri="{9D8B030D-6E8A-4147-A177-3AD203B41FA5}">
                      <a16:colId xmlns:a16="http://schemas.microsoft.com/office/drawing/2014/main" val="3424017429"/>
                    </a:ext>
                  </a:extLst>
                </a:gridCol>
                <a:gridCol w="1069675">
                  <a:extLst>
                    <a:ext uri="{9D8B030D-6E8A-4147-A177-3AD203B41FA5}">
                      <a16:colId xmlns:a16="http://schemas.microsoft.com/office/drawing/2014/main" val="2408045696"/>
                    </a:ext>
                  </a:extLst>
                </a:gridCol>
                <a:gridCol w="2640265">
                  <a:extLst>
                    <a:ext uri="{9D8B030D-6E8A-4147-A177-3AD203B41FA5}">
                      <a16:colId xmlns:a16="http://schemas.microsoft.com/office/drawing/2014/main" val="446501792"/>
                    </a:ext>
                  </a:extLst>
                </a:gridCol>
                <a:gridCol w="1310634">
                  <a:extLst>
                    <a:ext uri="{9D8B030D-6E8A-4147-A177-3AD203B41FA5}">
                      <a16:colId xmlns:a16="http://schemas.microsoft.com/office/drawing/2014/main" val="173529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HoldTimeInMinutes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HoldActivityId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HoldStartTime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HoldEndTime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msdyn_holdreasonidname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msdyn_holdtypename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741846"/>
                  </a:ext>
                </a:extLst>
              </a:tr>
              <a:tr h="2215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17800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C821A20C-E3CD-EF11-8A6A-0022480B80A6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1/8/25 17:07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1/15/25 15:57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Agreement compliance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3rd Party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1566"/>
                  </a:ext>
                </a:extLst>
              </a:tr>
              <a:tr h="2215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17800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E337B59E-66D3-EF11-8EEA-000D3A598DD0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1/15/25 17:32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1/15/25 19:02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Compliance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3rd Party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049632"/>
                  </a:ext>
                </a:extLst>
              </a:tr>
              <a:tr h="2215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17800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0688BF62-A3D2-EF11-8EEA-0022480B80A6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1/14/25 18:14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1/15/25 15:57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Compliance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3rd Party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508906"/>
                  </a:ext>
                </a:extLst>
              </a:tr>
              <a:tr h="2215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17800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4863B72B-B3D2-EF11-8EEA-0022480B80A6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1/14/25 20:07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1/15/25 16:18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Form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Customer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123940"/>
                  </a:ext>
                </a:extLst>
              </a:tr>
              <a:tr h="2215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17800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563C2E21-94D3-EF11-8EEA-6045BD04E266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1/15/25 22:57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1/18/25 5:08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Need Info/Clarification/Correction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Customer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354419"/>
                  </a:ext>
                </a:extLst>
              </a:tr>
              <a:tr h="2215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17800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34A9ACA5-3DC9-EF11-8A69-0022480A9066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1/2/25 19:13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1/8/25 6:47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Need Info/Clarification/Correction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3rd Party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462293"/>
                  </a:ext>
                </a:extLst>
              </a:tr>
              <a:tr h="2215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17800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0DBA73AD-B2D2-EF11-8EEA-0022480B80A6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1/14/25 20:03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1/15/25 16:18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Need Info/Clarification/Correction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Customer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34277"/>
                  </a:ext>
                </a:extLst>
              </a:tr>
              <a:tr h="2215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17800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C55941B5-C3C8-EF11-8A6A-000D3A598DD0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1/2/25 4:40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1/2/25 18:56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Need Info/Clarification/Correction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3rd Party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529289"/>
                  </a:ext>
                </a:extLst>
              </a:tr>
              <a:tr h="2215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17800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1DF1BA82-3BC9-EF11-8A69-0022480A9066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1/2/25 18:58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1/2/25 23:05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Signature Form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Customer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146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345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F324458-7553-BBE4-1B6A-E51FF40CA847}"/>
              </a:ext>
            </a:extLst>
          </p:cNvPr>
          <p:cNvGraphicFramePr>
            <a:graphicFrameLocks noGrp="1"/>
          </p:cNvGraphicFramePr>
          <p:nvPr/>
        </p:nvGraphicFramePr>
        <p:xfrm>
          <a:off x="483941" y="1181415"/>
          <a:ext cx="6261916" cy="3352800"/>
        </p:xfrm>
        <a:graphic>
          <a:graphicData uri="http://schemas.openxmlformats.org/drawingml/2006/table">
            <a:tbl>
              <a:tblPr/>
              <a:tblGrid>
                <a:gridCol w="3130958">
                  <a:extLst>
                    <a:ext uri="{9D8B030D-6E8A-4147-A177-3AD203B41FA5}">
                      <a16:colId xmlns:a16="http://schemas.microsoft.com/office/drawing/2014/main" val="3151276138"/>
                    </a:ext>
                  </a:extLst>
                </a:gridCol>
                <a:gridCol w="3130958">
                  <a:extLst>
                    <a:ext uri="{9D8B030D-6E8A-4147-A177-3AD203B41FA5}">
                      <a16:colId xmlns:a16="http://schemas.microsoft.com/office/drawing/2014/main" val="16691119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970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TotalHoldMinutes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17800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027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HoldMinutes_NeedInfo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(Window A + B + part C + 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972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HoldMinutes_Compliance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(Window C + D partial)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854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HoldMinutes_Form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(Window C segment)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732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HoldMinutes_AgreementCompliance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(Window C initial segment)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615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HoldMinutes_SignatureForm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4h 7m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8282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NumberOfReasonSwitches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~6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045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MaxConsecutiveHoldDuration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Window C ≈ 6d 23h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436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FirstHoldReason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Need Info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38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LastHoldReason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Need Info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1035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F3C74C8-A594-BDD5-103E-C82A1942CAEF}"/>
              </a:ext>
            </a:extLst>
          </p:cNvPr>
          <p:cNvSpPr txBox="1"/>
          <p:nvPr/>
        </p:nvSpPr>
        <p:spPr>
          <a:xfrm>
            <a:off x="227452" y="319978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Derived 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72086D-3150-7B8E-C113-A5F49F324B6B}"/>
              </a:ext>
            </a:extLst>
          </p:cNvPr>
          <p:cNvSpPr txBox="1"/>
          <p:nvPr/>
        </p:nvSpPr>
        <p:spPr>
          <a:xfrm>
            <a:off x="6653123" y="1103553"/>
            <a:ext cx="5054936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Interval Merging / </a:t>
            </a:r>
            <a:r>
              <a:rPr lang="en-US" dirty="0"/>
              <a:t>Timeline Segmentation</a:t>
            </a:r>
          </a:p>
          <a:p>
            <a:pPr>
              <a:buNone/>
            </a:pPr>
            <a:r>
              <a:rPr lang="en-US" sz="1200" b="1" dirty="0"/>
              <a:t> Overlapping hold intervals → Non-overlapping timeline</a:t>
            </a:r>
          </a:p>
          <a:p>
            <a:pPr>
              <a:buNone/>
            </a:pPr>
            <a:endParaRPr lang="en-US" sz="1200" b="1" dirty="0"/>
          </a:p>
          <a:p>
            <a:pPr>
              <a:buNone/>
            </a:pPr>
            <a:r>
              <a:rPr lang="en-US" b="1" dirty="0"/>
              <a:t>Dataset has: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Multiple </a:t>
            </a:r>
            <a:r>
              <a:rPr lang="en-US" sz="1400" b="1" dirty="0" err="1"/>
              <a:t>HoldActivityIds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Overlapping time intervals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Different reasons active at the same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3C59C7-92C0-1DAD-B91B-B36B60985211}"/>
              </a:ext>
            </a:extLst>
          </p:cNvPr>
          <p:cNvSpPr txBox="1"/>
          <p:nvPr/>
        </p:nvSpPr>
        <p:spPr>
          <a:xfrm>
            <a:off x="6745857" y="3114938"/>
            <a:ext cx="4189993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Convert the case into a minute-by-minute timeline</a:t>
            </a:r>
          </a:p>
          <a:p>
            <a:r>
              <a:rPr lang="en-US" sz="1200" dirty="0"/>
              <a:t>True non-overlapping hold durations</a:t>
            </a:r>
          </a:p>
          <a:p>
            <a:r>
              <a:rPr lang="en-US" sz="1200" dirty="0"/>
              <a:t>Clean per-reason hold minutes</a:t>
            </a:r>
          </a:p>
          <a:p>
            <a:r>
              <a:rPr lang="en-US" sz="1200" dirty="0"/>
              <a:t>No double counting</a:t>
            </a:r>
          </a:p>
          <a:p>
            <a:endParaRPr lang="en-US" dirty="0"/>
          </a:p>
          <a:p>
            <a:r>
              <a:rPr lang="en-US" b="1" dirty="0"/>
              <a:t>Over comes the below Cons from overlapping durations</a:t>
            </a:r>
          </a:p>
          <a:p>
            <a:r>
              <a:rPr lang="en-US" sz="1200" dirty="0"/>
              <a:t>Model will learn inflated hold times</a:t>
            </a:r>
            <a:br>
              <a:rPr lang="en-US" sz="1200" dirty="0"/>
            </a:br>
            <a:r>
              <a:rPr lang="en-US" sz="1200" dirty="0"/>
              <a:t>Total hold time per reason will exceed actual hold time</a:t>
            </a:r>
            <a:br>
              <a:rPr lang="en-US" sz="1200" dirty="0"/>
            </a:br>
            <a:r>
              <a:rPr lang="en-US" sz="1200" dirty="0"/>
              <a:t>Feature leakage risk</a:t>
            </a:r>
            <a:br>
              <a:rPr lang="en-US" sz="1200" dirty="0"/>
            </a:br>
            <a:r>
              <a:rPr lang="en-US" sz="1200" dirty="0"/>
              <a:t>Prediction bias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418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C57C1CB-7C74-E7D9-7B5C-635E81F5B09A}"/>
              </a:ext>
            </a:extLst>
          </p:cNvPr>
          <p:cNvSpPr txBox="1"/>
          <p:nvPr/>
        </p:nvSpPr>
        <p:spPr>
          <a:xfrm>
            <a:off x="7033402" y="1234726"/>
            <a:ext cx="41723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Keep These Categorical Features:</a:t>
            </a:r>
          </a:p>
          <a:p>
            <a:pPr>
              <a:buNone/>
            </a:pPr>
            <a:r>
              <a:rPr lang="en-US" dirty="0"/>
              <a:t>• </a:t>
            </a:r>
            <a:r>
              <a:rPr lang="en-US" dirty="0" err="1"/>
              <a:t>FirstHoldReason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LastHoldReason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MostFrequentReason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LongestDurationReason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960139-4116-526E-A76F-C62C5E02CF9C}"/>
              </a:ext>
            </a:extLst>
          </p:cNvPr>
          <p:cNvSpPr txBox="1"/>
          <p:nvPr/>
        </p:nvSpPr>
        <p:spPr>
          <a:xfrm>
            <a:off x="675018" y="1088077"/>
            <a:ext cx="4785504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Core Hold Duration Features</a:t>
            </a:r>
          </a:p>
          <a:p>
            <a:r>
              <a:rPr lang="en-US" dirty="0"/>
              <a:t>• </a:t>
            </a:r>
            <a:r>
              <a:rPr lang="en-US" dirty="0" err="1"/>
              <a:t>TotalHoldMinutes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MaxConsecutiveHoldDuration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AvgHoldDuration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NumberOfHoldSegments</a:t>
            </a:r>
            <a:r>
              <a:rPr lang="en-US" dirty="0"/>
              <a:t> = 4</a:t>
            </a:r>
            <a:endParaRPr lang="en-US" sz="1200" dirty="0"/>
          </a:p>
          <a:p>
            <a:r>
              <a:rPr lang="en-US" sz="1200" dirty="0"/>
              <a:t>Compliance → Compliance → </a:t>
            </a:r>
            <a:r>
              <a:rPr lang="en-US" sz="1200" dirty="0" err="1"/>
              <a:t>NeedInfo</a:t>
            </a:r>
            <a:r>
              <a:rPr lang="en-US" sz="1200" dirty="0"/>
              <a:t> → Compliance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NumberOfReasonSwitches</a:t>
            </a:r>
            <a:r>
              <a:rPr lang="en-US" dirty="0"/>
              <a:t> = 2</a:t>
            </a:r>
          </a:p>
          <a:p>
            <a:r>
              <a:rPr lang="en-US" dirty="0"/>
              <a:t>• </a:t>
            </a:r>
            <a:r>
              <a:rPr lang="en-US" dirty="0" err="1"/>
              <a:t>DistinctReasonCount</a:t>
            </a:r>
            <a:r>
              <a:rPr lang="en-US" dirty="0"/>
              <a:t> = 2</a:t>
            </a:r>
          </a:p>
          <a:p>
            <a:r>
              <a:rPr lang="en-US" dirty="0"/>
              <a:t>• </a:t>
            </a:r>
            <a:r>
              <a:rPr lang="en-US" dirty="0" err="1"/>
              <a:t>HoldToResolutionRatio</a:t>
            </a:r>
            <a:r>
              <a:rPr lang="en-US" dirty="0"/>
              <a:t> = </a:t>
            </a:r>
            <a:r>
              <a:rPr lang="en-US" dirty="0" err="1"/>
              <a:t>TotalHoldMinutes</a:t>
            </a:r>
            <a:r>
              <a:rPr lang="en-US" dirty="0"/>
              <a:t> / case </a:t>
            </a:r>
            <a:r>
              <a:rPr lang="en-US" dirty="0" err="1"/>
              <a:t>ResolutionTime</a:t>
            </a:r>
            <a:r>
              <a:rPr lang="en-US" dirty="0"/>
              <a:t> = 120/300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27CE68-827E-4962-9824-C114D8D0F14C}"/>
              </a:ext>
            </a:extLst>
          </p:cNvPr>
          <p:cNvSpPr txBox="1"/>
          <p:nvPr/>
        </p:nvSpPr>
        <p:spPr>
          <a:xfrm>
            <a:off x="692273" y="4375045"/>
            <a:ext cx="60945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Reason Distribution Features (Compressed Intelligence)</a:t>
            </a:r>
          </a:p>
          <a:p>
            <a:pPr>
              <a:buNone/>
            </a:pPr>
            <a:r>
              <a:rPr lang="en-US" dirty="0"/>
              <a:t>• %</a:t>
            </a:r>
            <a:r>
              <a:rPr lang="en-US" dirty="0" err="1"/>
              <a:t>TimeInTopReason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EntropyOfReasons</a:t>
            </a:r>
            <a:endParaRPr lang="en-US" dirty="0"/>
          </a:p>
          <a:p>
            <a:pPr>
              <a:buNone/>
            </a:pPr>
            <a:r>
              <a:rPr lang="en-US" sz="1200" b="1" dirty="0"/>
              <a:t>uncertainty / randomness / diversity</a:t>
            </a:r>
          </a:p>
          <a:p>
            <a:pPr>
              <a:buNone/>
            </a:pPr>
            <a:r>
              <a:rPr lang="en-US" sz="1200" b="1" dirty="0"/>
              <a:t>One main reason dominates = low entropy</a:t>
            </a:r>
          </a:p>
          <a:p>
            <a:pPr>
              <a:buNone/>
            </a:pPr>
            <a:r>
              <a:rPr lang="en-US" sz="1200" b="1" dirty="0"/>
              <a:t>Multiple reasons evenly split = high entropy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DominantReasonFlag</a:t>
            </a:r>
            <a:r>
              <a:rPr lang="en-US" dirty="0"/>
              <a:t> (if one reason &gt;70% of hold time)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A5C734-F77D-4D60-C4D5-0B9B7378A04B}"/>
              </a:ext>
            </a:extLst>
          </p:cNvPr>
          <p:cNvSpPr txBox="1"/>
          <p:nvPr/>
        </p:nvSpPr>
        <p:spPr>
          <a:xfrm>
            <a:off x="7645159" y="4375045"/>
            <a:ext cx="35605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Additional Features </a:t>
            </a:r>
            <a:r>
              <a:rPr lang="en-US" dirty="0" err="1"/>
              <a:t>TimeBeforeFirstHold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TimeAfterLastHold</a:t>
            </a:r>
            <a:br>
              <a:rPr lang="en-US" dirty="0"/>
            </a:br>
            <a:r>
              <a:rPr lang="en-US" dirty="0"/>
              <a:t>• %</a:t>
            </a:r>
            <a:r>
              <a:rPr lang="en-US" dirty="0" err="1"/>
              <a:t>ResolutionTimeSpentOnHold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B87E6D-A743-B899-1C0F-1D44E10F0E30}"/>
              </a:ext>
            </a:extLst>
          </p:cNvPr>
          <p:cNvSpPr txBox="1"/>
          <p:nvPr/>
        </p:nvSpPr>
        <p:spPr>
          <a:xfrm>
            <a:off x="227452" y="319978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500K Records with 170K records on Hold</a:t>
            </a:r>
          </a:p>
        </p:txBody>
      </p:sp>
    </p:spTree>
    <p:extLst>
      <p:ext uri="{BB962C8B-B14F-4D97-AF65-F5344CB8AC3E}">
        <p14:creationId xmlns:p14="http://schemas.microsoft.com/office/powerpoint/2010/main" val="3466015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467</Words>
  <Application>Microsoft Office PowerPoint</Application>
  <PresentationFormat>Widescreen</PresentationFormat>
  <Paragraphs>147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Suresh Adusumilli (BLINK INTERACTIVE INC)</dc:creator>
  <cp:lastModifiedBy>Naga Suresh Adusumilli (BLINK INTERACTIVE INC)</cp:lastModifiedBy>
  <cp:revision>1</cp:revision>
  <dcterms:created xsi:type="dcterms:W3CDTF">2026-02-23T05:16:17Z</dcterms:created>
  <dcterms:modified xsi:type="dcterms:W3CDTF">2026-02-23T05:17:27Z</dcterms:modified>
</cp:coreProperties>
</file>